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Nunito" panose="020B0604020202020204" pitchFamily="2" charset="0"/>
      <p:regular r:id="rId22"/>
      <p:bold r:id="rId23"/>
      <p:italic r:id="rId24"/>
      <p:boldItalic r:id="rId25"/>
    </p:embeddedFont>
    <p:embeddedFont>
      <p:font typeface="Nunito Medium"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vW9VHJK53Ahm4PpdbW4gJ0llU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72055"/>
  </p:normalViewPr>
  <p:slideViewPr>
    <p:cSldViewPr snapToGrid="0">
      <p:cViewPr varScale="1">
        <p:scale>
          <a:sx n="71" d="100"/>
          <a:sy n="71" d="100"/>
        </p:scale>
        <p:origin x="1284"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6727"/>
              </a:lnSpc>
              <a:spcBef>
                <a:spcPts val="0"/>
              </a:spcBef>
              <a:spcAft>
                <a:spcPts val="0"/>
              </a:spcAft>
              <a:buClr>
                <a:schemeClr val="dk1"/>
              </a:buClr>
              <a:buSzPts val="1100"/>
              <a:buFont typeface="Arial"/>
              <a:buNone/>
            </a:pPr>
            <a:r>
              <a:rPr lang="en-US" sz="1000">
                <a:solidFill>
                  <a:schemeClr val="dk1"/>
                </a:solidFill>
              </a:rPr>
              <a:t>The Colonial Pipeline Ransomware Attack</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Colonial Pipeline is the longest pipeline in the US, stretching from Texas to New York. The pipeline is a critical energy infrastructure and vital to the US economy because it supplies 45% of the east coast's gas supply.</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On May 7, 2020, the company discovered that a bad actor hacked into their network, encrypted over 100 gigabytes of data, and was demanding a bitcoin ransom. The group was also threatening to publish the data if the company did not pay the ransom.</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The company acted quickly and decided to shut down the pipeline immediately and pay the ransom of 75 bitcoins worth $4.4 million at the time. The Darkside hacking group was responsible for the ransomware attack, and they promised a decryption tool so the company could get its data back. The problem was that the decryption was very slow.</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The pipeline was down for a total of six days while the company worked to get it back up and running. In the meantime, they worked with the FBI to get most of their bitcoin back. The delay led to gas shortages along the east coast.</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The Darkside group was able to get into the network through a legacy VPN, which they had the user's password. The legacy VPN was not utilizing MFA, which the rest of the company had already moved to.</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My control recommendations for Colonial Pipeline are first to conduct a vulnerability assessment to find weak points in the network possibly. Then I would make sure all endpoints in the network require MFA.</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I met with Cybersecurity director Steve Prairie with Travelers insurance, who pointed out that the company should implement more penetration testing and red team exercises to discover any weak points in their network. The testing may have exposed the legacy VPN.</a:t>
            </a:r>
            <a:endParaRPr sz="1000">
              <a:solidFill>
                <a:schemeClr val="dk1"/>
              </a:solidFill>
            </a:endParaRPr>
          </a:p>
          <a:p>
            <a:pPr marL="0" lvl="0" indent="0" algn="l" rtl="0">
              <a:lnSpc>
                <a:spcPct val="100000"/>
              </a:lnSpc>
              <a:spcBef>
                <a:spcPts val="800"/>
              </a:spcBef>
              <a:spcAft>
                <a:spcPts val="0"/>
              </a:spcAft>
              <a:buSzPts val="1100"/>
              <a:buNone/>
            </a:pPr>
            <a:endParaRPr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6727"/>
              </a:lnSpc>
              <a:spcBef>
                <a:spcPts val="0"/>
              </a:spcBef>
              <a:spcAft>
                <a:spcPts val="0"/>
              </a:spcAft>
              <a:buClr>
                <a:schemeClr val="dk1"/>
              </a:buClr>
              <a:buSzPts val="1100"/>
              <a:buFont typeface="Arial"/>
              <a:buNone/>
            </a:pPr>
            <a:r>
              <a:rPr lang="en-US" sz="1000">
                <a:solidFill>
                  <a:schemeClr val="dk1"/>
                </a:solidFill>
              </a:rPr>
              <a:t>The public company Okta is a fast-growing identity and access management company that provides security solutions to many large corporations. Many corporations use Okta, so they don't get their data stolen or their network hacked, so it was a surprise to many people when they revealed they had been hacked on March 22, 2022.</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On January 20, 2022, Okta security noticed someone added an authentication factor to one of its vendor's devices. They quickly blocked the device's access to Okta's network and had the third-party vendor do an investigation into the incident.</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Okta's vendor used another vendor to investigate the possible breach, and by the time it made it back to Okta, it was March, and the Lapsus$ group had already exposed screenshots of their breach on Telegram. Even in the first communication, Okta indicated they were never breached. They finally admitted they were breached for 25 minutes and viewed two vendors' information.</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During this period of uncertainty, Okta's stock price plummeted. Lapsus$ used a pass the hash tool named Mimikatz to break the steal the vendor's credentials.</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Okta should complete a vendor risk assessment to help assess its vendor vulnerabilities. The vendor should be held to the same MFA policy as the company. Okta should also implement access controls to limit each vendor user's access to customer information. The company should also implement an incident communication plan to add consistency to the public messaging.</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One thing that my cybersecurity advisor Steve Prairie mentioned was that they took a long time to figure out what was accessed. With logs, this would not have taken as long.</a:t>
            </a:r>
            <a:endParaRPr sz="1000">
              <a:solidFill>
                <a:schemeClr val="dk1"/>
              </a:solidFill>
            </a:endParaRPr>
          </a:p>
          <a:p>
            <a:pPr marL="0" lvl="0" indent="0" algn="l" rtl="0">
              <a:lnSpc>
                <a:spcPct val="100000"/>
              </a:lnSpc>
              <a:spcBef>
                <a:spcPts val="80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6727"/>
              </a:lnSpc>
              <a:spcBef>
                <a:spcPts val="0"/>
              </a:spcBef>
              <a:spcAft>
                <a:spcPts val="0"/>
              </a:spcAft>
              <a:buClr>
                <a:schemeClr val="dk1"/>
              </a:buClr>
              <a:buSzPts val="1100"/>
              <a:buFont typeface="Arial"/>
              <a:buNone/>
            </a:pPr>
            <a:r>
              <a:rPr lang="en-US" sz="1000">
                <a:solidFill>
                  <a:schemeClr val="dk1"/>
                </a:solidFill>
              </a:rPr>
              <a:t>From March 2019 to January 2022, the Texas Department of Insurance (TDI) unintentionally disclosed 1.8 million records that included individuals' PII and PHI through a public internet site. TDI revealed this information in March 2022 after an audit. They indicated it was due to a coding error and fixed the problem immediately. TDI failed to disclose any more details about the coding error.</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After reviewing the incident, it is apparent that there should have been controls in place to prevent this from happening. The data was Workers' Compensation data provided by insurance companies. The web application server used by the insurance companies should have been segmented off from the public internet web server and placed in a DMZ. They could use an extranet setup with a VPN connection to accomplish more security. TDI should have done more penetration testing to find the vulnerability sooner. Since the data is sensitive, they should store it in an encrypted format. There also should be strict access controls in place to allow for limited access to sensitive data.</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Director Steve Prairie indicated there might be a more straightforward solution than creating an extranet with a VPN connection to the insurance companies. A Web Application Firewall (WAF) could be put in place to manage incoming access to the web application and would be a cheaper option.</a:t>
            </a:r>
            <a:endParaRPr sz="1000">
              <a:solidFill>
                <a:schemeClr val="dk1"/>
              </a:solidFill>
            </a:endParaRPr>
          </a:p>
          <a:p>
            <a:pPr marL="0" lvl="0" indent="0" algn="l" rtl="0">
              <a:lnSpc>
                <a:spcPct val="100000"/>
              </a:lnSpc>
              <a:spcBef>
                <a:spcPts val="800"/>
              </a:spcBef>
              <a:spcAft>
                <a:spcPts val="0"/>
              </a:spcAft>
              <a:buSzPts val="1100"/>
              <a:buNone/>
            </a:pP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6727"/>
              </a:lnSpc>
              <a:spcBef>
                <a:spcPts val="0"/>
              </a:spcBef>
              <a:spcAft>
                <a:spcPts val="0"/>
              </a:spcAft>
              <a:buClr>
                <a:schemeClr val="dk1"/>
              </a:buClr>
              <a:buSzPts val="1100"/>
              <a:buFont typeface="Arial"/>
              <a:buNone/>
            </a:pPr>
            <a:r>
              <a:rPr lang="en-US" sz="1000">
                <a:solidFill>
                  <a:schemeClr val="dk1"/>
                </a:solidFill>
              </a:rPr>
              <a:t>In the last few months of 2021, a group of disgruntled attorneys from the law firm appear to have decided to switch firms. Before they changed employers, they downloaded a lot of the firm's case data and client information so they could use it at their new firm. They used Google Drive and Apple iCloud storage to extract the company data. They then deleted many of their company emails and shredded 288 pounds of paperwork, and charged the firm for it.</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To avoid this in the future, the company should blacklist the use of personal email or extraction software applications on its workstations. They should also limit the access the attorneys have so only their client's data is accessible. The firm likely knew they had some disgruntled staff at the time. They could have set up some monitoring to watch for data extraction.</a:t>
            </a:r>
            <a:endParaRPr sz="1000">
              <a:solidFill>
                <a:schemeClr val="dk1"/>
              </a:solidFill>
            </a:endParaRPr>
          </a:p>
          <a:p>
            <a:pPr marL="0" lvl="0" indent="0" algn="l" rtl="0">
              <a:lnSpc>
                <a:spcPct val="116727"/>
              </a:lnSpc>
              <a:spcBef>
                <a:spcPts val="800"/>
              </a:spcBef>
              <a:spcAft>
                <a:spcPts val="0"/>
              </a:spcAft>
              <a:buClr>
                <a:schemeClr val="dk1"/>
              </a:buClr>
              <a:buSzPts val="1100"/>
              <a:buFont typeface="Arial"/>
              <a:buNone/>
            </a:pPr>
            <a:r>
              <a:rPr lang="en-US" sz="1000">
                <a:solidFill>
                  <a:schemeClr val="dk1"/>
                </a:solidFill>
              </a:rPr>
              <a:t>When discussing the case with Steve Prairie, he brought up that monitoring should be done through technological means and not someone physically monitoring the behavior. Possibly some logging software could have alerted the large amounts of data being extracted in this case.  </a:t>
            </a:r>
            <a:endParaRPr sz="1000">
              <a:solidFill>
                <a:schemeClr val="dk1"/>
              </a:solidFill>
            </a:endParaRPr>
          </a:p>
          <a:p>
            <a:pPr marL="0" lvl="0" indent="0" algn="l" rtl="0">
              <a:lnSpc>
                <a:spcPct val="100000"/>
              </a:lnSpc>
              <a:spcBef>
                <a:spcPts val="800"/>
              </a:spcBef>
              <a:spcAft>
                <a:spcPts val="0"/>
              </a:spcAft>
              <a:buSzPts val="1100"/>
              <a:buNone/>
            </a:pP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a:solidFill>
                  <a:schemeClr val="dk1"/>
                </a:solidFill>
              </a:rPr>
              <a:t>Target had one of the largest breaches </a:t>
            </a:r>
            <a:r>
              <a:rPr lang="en-US" sz="1200">
                <a:solidFill>
                  <a:schemeClr val="dk1"/>
                </a:solidFill>
                <a:highlight>
                  <a:srgbClr val="FFFFFF"/>
                </a:highlight>
              </a:rPr>
              <a:t>on November 29</a:t>
            </a:r>
            <a:r>
              <a:rPr lang="en-US" sz="1200">
                <a:solidFill>
                  <a:schemeClr val="dk1"/>
                </a:solidFill>
              </a:rPr>
              <a:t>th</a:t>
            </a:r>
            <a:r>
              <a:rPr lang="en-US" sz="1200">
                <a:solidFill>
                  <a:schemeClr val="dk1"/>
                </a:solidFill>
                <a:highlight>
                  <a:srgbClr val="FFFFFF"/>
                </a:highlight>
              </a:rPr>
              <a:t> 2013 </a:t>
            </a:r>
            <a:r>
              <a:rPr lang="en-US" sz="1200">
                <a:solidFill>
                  <a:schemeClr val="dk1"/>
                </a:solidFill>
              </a:rPr>
              <a:t>till date. The third-party vendor </a:t>
            </a:r>
            <a:r>
              <a:rPr lang="en-US" sz="1200">
                <a:solidFill>
                  <a:schemeClr val="dk1"/>
                </a:solidFill>
                <a:highlight>
                  <a:srgbClr val="FFFFFF"/>
                </a:highlight>
              </a:rPr>
              <a:t>Fazio Mechanical which has access to Targets data system, fell victim to a </a:t>
            </a:r>
            <a:r>
              <a:rPr lang="en-US" sz="1200">
                <a:solidFill>
                  <a:schemeClr val="dk1"/>
                </a:solidFill>
              </a:rPr>
              <a:t>"spear phishing”</a:t>
            </a:r>
            <a:r>
              <a:rPr lang="en-US" sz="1200">
                <a:solidFill>
                  <a:schemeClr val="dk1"/>
                </a:solidFill>
                <a:highlight>
                  <a:srgbClr val="FFFFFF"/>
                </a:highlight>
              </a:rPr>
              <a:t> attack. The </a:t>
            </a:r>
            <a:endParaRPr sz="12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US" sz="1200">
                <a:solidFill>
                  <a:schemeClr val="dk1"/>
                </a:solidFill>
              </a:rPr>
              <a:t>intruder stole the vendor’s credentials which were used to access their system. The third-party vendor acknowledges using</a:t>
            </a:r>
            <a:r>
              <a:rPr lang="en-US" sz="1200">
                <a:solidFill>
                  <a:schemeClr val="dk1"/>
                </a:solidFill>
                <a:highlight>
                  <a:srgbClr val="FFFFFF"/>
                </a:highlight>
              </a:rPr>
              <a:t> a free anti-malware program which did not offer real-time protection against threats. Approximately, 70 million to 100 million personal information was stolen such as SSN, credit, debit and telephone number. </a:t>
            </a:r>
            <a:endParaRPr sz="120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US" sz="1200">
                <a:solidFill>
                  <a:schemeClr val="dk1"/>
                </a:solidFill>
              </a:rPr>
              <a:t> </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200">
                <a:solidFill>
                  <a:schemeClr val="dk1"/>
                </a:solidFill>
              </a:rPr>
              <a:t>Based on the research I’ve conducted the recommendation I suggest Target is to perform risk assessment, external &amp; internal vulnerability scanning, implement PCI DSS controls, least of privileges, and security awareness training for in house and third-party vendors. </a:t>
            </a:r>
            <a:endParaRPr sz="1200">
              <a:solidFill>
                <a:schemeClr val="dk1"/>
              </a:solidFill>
            </a:endParaRPr>
          </a:p>
          <a:p>
            <a:pPr marL="0" lvl="0" indent="0" algn="l" rtl="0">
              <a:lnSpc>
                <a:spcPct val="100000"/>
              </a:lnSpc>
              <a:spcBef>
                <a:spcPts val="0"/>
              </a:spcBef>
              <a:spcAft>
                <a:spcPts val="0"/>
              </a:spcAft>
              <a:buSzPts val="1100"/>
              <a:buNone/>
            </a:pPr>
            <a:endParaRPr sz="1200">
              <a:latin typeface="Nunito Medium"/>
              <a:ea typeface="Nunito Medium"/>
              <a:cs typeface="Nunito Medium"/>
              <a:sym typeface="Nunito Medium"/>
            </a:endParaRPr>
          </a:p>
          <a:p>
            <a:pPr marL="0" lvl="0" indent="0" algn="l" rtl="0">
              <a:lnSpc>
                <a:spcPct val="100000"/>
              </a:lnSpc>
              <a:spcBef>
                <a:spcPts val="0"/>
              </a:spcBef>
              <a:spcAft>
                <a:spcPts val="0"/>
              </a:spcAft>
              <a:buSzPts val="1100"/>
              <a:buNone/>
            </a:pPr>
            <a:r>
              <a:rPr lang="en-US" sz="1200">
                <a:latin typeface="Nunito Medium"/>
                <a:ea typeface="Nunito Medium"/>
                <a:cs typeface="Nunito Medium"/>
                <a:sym typeface="Nunito Medium"/>
              </a:rPr>
              <a:t>Director of Cyber Risk, Angel Mosley recommends </a:t>
            </a:r>
            <a:r>
              <a:rPr lang="en-US" sz="1200">
                <a:solidFill>
                  <a:schemeClr val="dk1"/>
                </a:solidFill>
                <a:latin typeface="Calibri"/>
                <a:ea typeface="Calibri"/>
                <a:cs typeface="Calibri"/>
                <a:sym typeface="Calibri"/>
              </a:rPr>
              <a:t>Implement a comprehensive risk assessment process that use a framework like NIST 800-53, Least of Privileges with Third-Party Vendors and network segmentation.</a:t>
            </a:r>
            <a:endParaRPr sz="1200">
              <a:solidFill>
                <a:schemeClr val="dk1"/>
              </a:solidFill>
              <a:latin typeface="Calibri"/>
              <a:ea typeface="Calibri"/>
              <a:cs typeface="Calibri"/>
              <a:sym typeface="Calibri"/>
            </a:endParaRPr>
          </a:p>
          <a:p>
            <a:pPr marL="457200" lvl="0" indent="0" algn="l" rtl="0">
              <a:spcBef>
                <a:spcPts val="0"/>
              </a:spcBef>
              <a:spcAft>
                <a:spcPts val="0"/>
              </a:spcAft>
              <a:buNone/>
            </a:pPr>
            <a:endParaRPr sz="1000">
              <a:latin typeface="Nunito Medium"/>
              <a:ea typeface="Nunito Medium"/>
              <a:cs typeface="Nunito Medium"/>
              <a:sym typeface="Nunito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T-Mobile severely need to implement better risk management practices and a framework like NIST 800-53. The numerous breaches within the three years displays that T-mobile lack Lesson Learned and does not continuous scan their networks for gaps and vulnerabilities.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I think T-mobile did a great decision with partnering with KPMG to implement the risk management program.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My Director of Cyber Risk, Angel Mosley suggested that T-mobile perform a risk assessment and implement a risk management program. As well they should perform an external and internal vulnerabilities on networks and an endpoint detection response like Carbon Black, and a Data Loss Prevention software like McAfee.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During the research of LinkedIn’s “incident” I discovered the difference between data breaches vs data scraping. The importance of data classification (i.e sensitive, classified, restricted) and the context that would classify a data breach. </a:t>
            </a:r>
            <a:r>
              <a:rPr lang="en-US" sz="1000">
                <a:solidFill>
                  <a:schemeClr val="dk1"/>
                </a:solidFill>
              </a:rPr>
              <a:t> Data scraping is a technique in which a computer program extracts data from the output generated from another program. </a:t>
            </a:r>
            <a:endParaRPr sz="1000">
              <a:solidFill>
                <a:schemeClr val="dk1"/>
              </a:solidFill>
            </a:endParaRPr>
          </a:p>
          <a:p>
            <a:pPr marL="0" lvl="0" indent="0" algn="l" rtl="0">
              <a:lnSpc>
                <a:spcPct val="100000"/>
              </a:lnSpc>
              <a:spcBef>
                <a:spcPts val="0"/>
              </a:spcBef>
              <a:spcAft>
                <a:spcPts val="0"/>
              </a:spcAft>
              <a:buSzPts val="1100"/>
              <a:buNone/>
            </a:pPr>
            <a:r>
              <a:rPr lang="en-US"/>
              <a:t>LinkedIn’s current incident still has teachable information of data scraping and how to implement controls to mitigate data scraping. My recommendations implement api vulnerabilities scanning at least quarterly and asset classification.</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During the discussion of this particular incident, one of Angel Mosley suggestion, that LinkedIn should perform API security test to check for vulnerabilities and security process gaps.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Capital One data breach was one of the most controversial breach, which landed Capital One to pay a $80 million fine. Capital One’s customer data was stolen by a former AWS system engineer that was able to develop a scanning tool where she identified gaps in Capital One’s rented cloud storage. Paige Thompson was convicted of several federal crimes including fraud. </a:t>
            </a:r>
            <a:endParaRPr dirty="0"/>
          </a:p>
          <a:p>
            <a:pPr marL="0" lvl="0" indent="0" algn="l" rtl="0">
              <a:lnSpc>
                <a:spcPct val="100000"/>
              </a:lnSpc>
              <a:spcBef>
                <a:spcPts val="0"/>
              </a:spcBef>
              <a:spcAft>
                <a:spcPts val="0"/>
              </a:spcAft>
              <a:buSzPts val="1100"/>
              <a:buNone/>
            </a:pPr>
            <a:endParaRPr dirty="0"/>
          </a:p>
          <a:p>
            <a:pPr fontAlgn="base"/>
            <a:r>
              <a:rPr lang="en-US" dirty="0"/>
              <a:t>My control recommendation to mitigate risk </a:t>
            </a:r>
            <a:r>
              <a:rPr lang="en-US" sz="1100" b="0" i="0" u="none" strike="noStrike" cap="none" dirty="0">
                <a:solidFill>
                  <a:srgbClr val="000000"/>
                </a:solidFill>
                <a:effectLst/>
                <a:latin typeface="Arial"/>
                <a:cs typeface="Arial"/>
                <a:sym typeface="Arial"/>
              </a:rPr>
              <a:t>e</a:t>
            </a:r>
            <a:r>
              <a:rPr lang="en-US" sz="1100" b="0" i="0" u="none" strike="noStrike" cap="none" dirty="0">
                <a:solidFill>
                  <a:srgbClr val="000000"/>
                </a:solidFill>
                <a:effectLst/>
                <a:latin typeface="Arial"/>
                <a:ea typeface="Arial"/>
                <a:cs typeface="Arial"/>
                <a:sym typeface="Arial"/>
              </a:rPr>
              <a:t>xecute automated compliance scans to detect any configuration changes of cloud resources. Perform penetration testing to identify any potential vulnerabilities. Perform periodic review of deployed IAM roles and policies with automated checking tools to detect any deviations from the specified baseline. Implement a tool to monitor cloud logs to detect any suspicious behavior.</a:t>
            </a:r>
          </a:p>
          <a:p>
            <a:pPr fontAlgn="base"/>
            <a:endParaRPr lang="en-US"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100"/>
              <a:buNone/>
            </a:pPr>
            <a:r>
              <a:rPr lang="en-US" sz="1000">
                <a:solidFill>
                  <a:schemeClr val="dk1"/>
                </a:solidFill>
              </a:rPr>
              <a:t>Baylor Scott &amp; White Medical Center in Frisco is a short-term acute care facility, usually receiving 5,000 patients annually. On September 22, 2018, they were breached through a third-party credit card processing system, AccuDoc Solutions. AccuDoc is a company that operates based on payment and billing services for healthcare providers, and they were the ones to alert Baylor Scott &amp; White about the breach. Based on their findings, 47,000 patients’ PII were exposed, including financial and demographic information. Forensics found that no data was exfiltrated, only viewed. The hack occurred through a compromised network server in AccuDoc, as a third-party vendor was installing new software, allowing a security vulnerability due to implementation conflicts. </a:t>
            </a:r>
            <a:endParaRPr sz="1000">
              <a:solidFill>
                <a:schemeClr val="dk1"/>
              </a:solidFill>
            </a:endParaRPr>
          </a:p>
          <a:p>
            <a:pPr marL="0" lvl="0" indent="0" algn="l" rtl="0">
              <a:spcBef>
                <a:spcPts val="0"/>
              </a:spcBef>
              <a:spcAft>
                <a:spcPts val="0"/>
              </a:spcAft>
              <a:buSzPts val="1100"/>
              <a:buNone/>
            </a:pPr>
            <a:endParaRPr sz="1000">
              <a:solidFill>
                <a:schemeClr val="dk1"/>
              </a:solidFill>
            </a:endParaRPr>
          </a:p>
          <a:p>
            <a:pPr marL="0" lvl="0" indent="0" algn="l" rtl="0">
              <a:spcBef>
                <a:spcPts val="0"/>
              </a:spcBef>
              <a:spcAft>
                <a:spcPts val="0"/>
              </a:spcAft>
              <a:buSzPts val="1100"/>
              <a:buNone/>
            </a:pPr>
            <a:r>
              <a:rPr lang="en-US" sz="1000">
                <a:solidFill>
                  <a:schemeClr val="dk1"/>
                </a:solidFill>
              </a:rPr>
              <a:t>The recommendations I believe would best prevent an incident like this for Baylor Scott &amp; White would be inventory management of sensitive information, routine vendor risk assessments, which could identify and evaluate potentials risk that are possible through vendors and third-parties. As well, Baylor Scott &amp; White should have consulted PCI DSS and HIPAA’s guidelines for security. Also, least privilege principles should have been implemented and separation of demographic and financial information, so less information would have been compromised in this breach.</a:t>
            </a:r>
            <a:endParaRPr sz="1000">
              <a:solidFill>
                <a:schemeClr val="dk1"/>
              </a:solidFill>
            </a:endParaRPr>
          </a:p>
          <a:p>
            <a:pPr marL="0" lvl="0" indent="0" algn="l" rtl="0">
              <a:spcBef>
                <a:spcPts val="0"/>
              </a:spcBef>
              <a:spcAft>
                <a:spcPts val="0"/>
              </a:spcAft>
              <a:buSzPts val="1100"/>
              <a:buNone/>
            </a:pPr>
            <a:endParaRPr sz="1000">
              <a:solidFill>
                <a:schemeClr val="dk1"/>
              </a:solidFill>
            </a:endParaRPr>
          </a:p>
          <a:p>
            <a:pPr marL="0" lvl="0" indent="0" algn="l" rtl="0">
              <a:spcBef>
                <a:spcPts val="0"/>
              </a:spcBef>
              <a:spcAft>
                <a:spcPts val="0"/>
              </a:spcAft>
              <a:buSzPts val="1100"/>
              <a:buNone/>
            </a:pPr>
            <a:r>
              <a:rPr lang="en-US" sz="1000">
                <a:solidFill>
                  <a:schemeClr val="dk1"/>
                </a:solidFill>
              </a:rPr>
              <a:t>I also discussed with a cybersecurity expert I know, Racquel Rodriguez who has been a security engineer, working at Atmos Energy for 3 years. She actually graduated from the MS Cybersecurity program here at the University of Dallas. She concurs that Baylor Scott &amp; White failed to introduce the least privileged principles for AccuDoc as well as AccuDoc’s software vendor. Also Baylor Scott &amp; White should have conducted checks into AccuDoc’s security policies, ensuring that their security procedures align with Baylor too.</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00">
                <a:solidFill>
                  <a:schemeClr val="dk1"/>
                </a:solidFill>
              </a:rPr>
              <a:t>Equifax had one of the largest notorious breaches in recent times, being one of the three largest credit reporting agencies and bureaus in the world. The data breach occurred on March 10, 2017, through an unpatched open source framework called Apache Struts. The hackers were capable of taking advantage of an HTTP request vulnerability, allowing them to execute codes remotely and travel through the internal network. Exfiltration began on May 13, 2017, when the hackers began to move from the consumer complaint web portal and into the Equifax servers, which were not segmented whatsoever. This mass exodus of 147 million people’s credit history data was not noticed until July 29, 2017, when Equifax had noticed a 10-month expired certificate for a network sniffer. </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The recommendations for this breach are simple and this entire incident could have been prevented if the correct measures were taken. These recommendations include patching and updating all services within the network, and monitoring traffic within the internal network. Segmentation of the network servers, as there was a limited amount of information that could have been accessed if done so. Least privilege principles as well.</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Racquel Rodriguez advised that Equifax could have implemented a CASB system, or a cloud access security broker, to ensure that all proper security measures are taken and enforced. If this was implemented, the unpatched Apache Struts would have been seen and updated, the public-key certificate would have been renewed before it was forgotten for ten months, internal traffic visibility would have been activated, and this data breach would have never occurred. She mentions that Equifax failed to silo the network in a way to protect consumers and the company, and that this incident alone provides insight into how there should be changes to vendor solution integration and data breach notification laws.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00">
                <a:solidFill>
                  <a:schemeClr val="dk1"/>
                </a:solidFill>
              </a:rPr>
              <a:t>Yale University is one of the prestigious Ivy League private universities, though in September 2018, had an unintended disclosure. They had a collating error where they had sent physical letters to the wrong mailing addresses pertaining to 1,102 individuals’ PHI. This error was due to a faulty set of rules that made the database mismatch the information on students, and Yale had not checked the integrity of student data before automatically sending it out. </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What I recommend Yale do was to conduct data verification checks, such as integrity mechanisms in place to verify that the information was correct and authenticated. Especially in cases like this, where mass data was changed and mismatched, there should have been notifications to the university and to students as well that their data in the database was incorrect and needed to be authenticated. </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Engineer Rodriguez says that collating errors are the results of poor database management, and poor database management is indicative of poor security. This can be seen with the Yale University data breach hack that had occurred a month before. Automated systems should have been in place to check that sensitive data was actually correct for the students, and as well as staff should have checked this too before the letters were sent.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000">
                <a:solidFill>
                  <a:schemeClr val="dk1"/>
                </a:solidFill>
              </a:rPr>
              <a:t>Lastly, South Georgia Medical Center is a not-for-profit medical center. This insider threat data breach pertains to the Valdosta branch of the South Georgia Medical Center. On November 12, 2021, an ex-employee had exfiltrated 41,692 patients’ PHI through a USB drive from the hospital’s database. The employee voluntarily left employment on November 11, 2021, with no clear sign of why not had any motive against the hospital. </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What I recommend for South Georgia Medical Center is to update their privileges of the system immediately to avoid incidents of insider threats such as this. Termination procedures needed to be taken such as escorting the employee out, clearing all accounts on databases and file servers, changing passwords, and such. SGMC may look into a defense-in-depth approach with the seven layers: (1) physical barriers, (2) physical restriction of access to systems, (3) IDS/IPS, (4) Firewall, (5) Software Firewall, (6) Anti-malware, and (7) Encryption. Also, the hospital should look into zero-trust policies, where users will have to continuously validate and authorize themselves into the system. </a:t>
            </a:r>
            <a:endParaRPr sz="1000">
              <a:solidFill>
                <a:schemeClr val="dk1"/>
              </a:solidFill>
            </a:endParaRPr>
          </a:p>
          <a:p>
            <a:pPr marL="0" lvl="0" indent="0" algn="l" rtl="0">
              <a:spcBef>
                <a:spcPts val="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Clr>
                <a:schemeClr val="dk1"/>
              </a:buClr>
              <a:buSzPts val="1100"/>
              <a:buFont typeface="Arial"/>
              <a:buNone/>
            </a:pPr>
            <a:r>
              <a:rPr lang="en-US" sz="1000">
                <a:solidFill>
                  <a:schemeClr val="dk1"/>
                </a:solidFill>
              </a:rPr>
              <a:t>Racquel Rodriguez mentions that the hospital needs to implement systems of least privilege principles, as right when the employee left employment, all privileges of an employee be immediately revoked and stripped. She says that the hospital should, based on the software and database they have, implement display-only access or block large exports rather than just alerts for it. Even though the hospital states they had segmented the network, this segmentation should apply further to job title and function. She notes that zero-trust policies are much easier to apply to principle than in reality, and revise it to apply to system-wide positions that maintain the organization, as a fast-paced environment where patient’s health is dependent on information cannot enforce zero-trust policies.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300"/>
              <a:buFont typeface="Arial"/>
              <a:buNone/>
            </a:pPr>
            <a:r>
              <a:rPr lang="en-US" sz="1400">
                <a:solidFill>
                  <a:srgbClr val="233A44"/>
                </a:solidFill>
                <a:latin typeface="Calibri"/>
                <a:ea typeface="Calibri"/>
                <a:cs typeface="Calibri"/>
                <a:sym typeface="Calibri"/>
              </a:rPr>
              <a:t>The 12 breach cases we have researched have exemplified multiple important factors in creating a secure work environment and network. These companies should have followed the cybersecurity frameworks that have been laid out for them to minimize breach risks, following the correct procedures of access controls to vital systems, classified their data to be akin to their company makeup, and had a proactive approach to their security rather than a reactive. Our findings have shown that these data breaches could have both been prevented and minimized with our recommendations. </a:t>
            </a:r>
            <a:endParaRPr sz="1400">
              <a:solidFill>
                <a:srgbClr val="233A44"/>
              </a:solidFill>
              <a:latin typeface="Calibri"/>
              <a:ea typeface="Calibri"/>
              <a:cs typeface="Calibri"/>
              <a:sym typeface="Calibri"/>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402f10864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402f10864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17"/>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17"/>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7"/>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7"/>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 name="Google Shape;14;p17"/>
          <p:cNvGrpSpPr/>
          <p:nvPr/>
        </p:nvGrpSpPr>
        <p:grpSpPr>
          <a:xfrm>
            <a:off x="255200" y="592"/>
            <a:ext cx="2250363" cy="1044300"/>
            <a:chOff x="255200" y="592"/>
            <a:chExt cx="2250363" cy="1044300"/>
          </a:xfrm>
        </p:grpSpPr>
        <p:sp>
          <p:nvSpPr>
            <p:cNvPr id="15" name="Google Shape;15;p17"/>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17"/>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17"/>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 name="Google Shape;18;p17"/>
          <p:cNvGrpSpPr/>
          <p:nvPr/>
        </p:nvGrpSpPr>
        <p:grpSpPr>
          <a:xfrm>
            <a:off x="905395" y="592"/>
            <a:ext cx="2250363" cy="1044300"/>
            <a:chOff x="905395" y="592"/>
            <a:chExt cx="2250363" cy="1044300"/>
          </a:xfrm>
        </p:grpSpPr>
        <p:sp>
          <p:nvSpPr>
            <p:cNvPr id="19" name="Google Shape;19;p17"/>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17"/>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7"/>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 name="Google Shape;22;p17"/>
          <p:cNvGrpSpPr/>
          <p:nvPr/>
        </p:nvGrpSpPr>
        <p:grpSpPr>
          <a:xfrm>
            <a:off x="7057468" y="5088"/>
            <a:ext cx="1851281" cy="752108"/>
            <a:chOff x="6917201" y="0"/>
            <a:chExt cx="2227776" cy="863400"/>
          </a:xfrm>
        </p:grpSpPr>
        <p:sp>
          <p:nvSpPr>
            <p:cNvPr id="23" name="Google Shape;23;p17"/>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17"/>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17"/>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 name="Google Shape;26;p17"/>
          <p:cNvGrpSpPr/>
          <p:nvPr/>
        </p:nvGrpSpPr>
        <p:grpSpPr>
          <a:xfrm>
            <a:off x="6553032" y="4217852"/>
            <a:ext cx="2389067" cy="925737"/>
            <a:chOff x="6917201" y="0"/>
            <a:chExt cx="2227776" cy="863400"/>
          </a:xfrm>
        </p:grpSpPr>
        <p:sp>
          <p:nvSpPr>
            <p:cNvPr id="27" name="Google Shape;27;p17"/>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7"/>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17"/>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 name="Google Shape;30;p17"/>
          <p:cNvGrpSpPr/>
          <p:nvPr/>
        </p:nvGrpSpPr>
        <p:grpSpPr>
          <a:xfrm>
            <a:off x="199149" y="4055652"/>
            <a:ext cx="2795413" cy="1083308"/>
            <a:chOff x="6917201" y="0"/>
            <a:chExt cx="2227776" cy="863400"/>
          </a:xfrm>
        </p:grpSpPr>
        <p:sp>
          <p:nvSpPr>
            <p:cNvPr id="31" name="Google Shape;31;p17"/>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17"/>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7"/>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 name="Google Shape;34;p17"/>
          <p:cNvSpPr txBox="1">
            <a:spLocks noGrp="1"/>
          </p:cNvSpPr>
          <p:nvPr>
            <p:ph type="ctrTitle"/>
          </p:nvPr>
        </p:nvSpPr>
        <p:spPr>
          <a:xfrm>
            <a:off x="1858703" y="1822833"/>
            <a:ext cx="5361300" cy="1448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35" name="Google Shape;35;p17"/>
          <p:cNvSpPr txBox="1">
            <a:spLocks noGrp="1"/>
          </p:cNvSpPr>
          <p:nvPr>
            <p:ph type="subTitle" idx="1"/>
          </p:nvPr>
        </p:nvSpPr>
        <p:spPr>
          <a:xfrm>
            <a:off x="1858700" y="3413158"/>
            <a:ext cx="5361300" cy="52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17"/>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37"/>
        <p:cNvGrpSpPr/>
        <p:nvPr/>
      </p:nvGrpSpPr>
      <p:grpSpPr>
        <a:xfrm>
          <a:off x="0" y="0"/>
          <a:ext cx="0" cy="0"/>
          <a:chOff x="0" y="0"/>
          <a:chExt cx="0" cy="0"/>
        </a:xfrm>
      </p:grpSpPr>
      <p:sp>
        <p:nvSpPr>
          <p:cNvPr id="38" name="Google Shape;38;p18"/>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8"/>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1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18"/>
          <p:cNvSpPr txBox="1">
            <a:spLocks noGrp="1"/>
          </p:cNvSpPr>
          <p:nvPr>
            <p:ph type="title"/>
          </p:nvPr>
        </p:nvSpPr>
        <p:spPr>
          <a:xfrm>
            <a:off x="819150" y="845600"/>
            <a:ext cx="7505700" cy="954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2" name="Google Shape;42;p18"/>
          <p:cNvSpPr txBox="1">
            <a:spLocks noGrp="1"/>
          </p:cNvSpPr>
          <p:nvPr>
            <p:ph type="body" idx="1"/>
          </p:nvPr>
        </p:nvSpPr>
        <p:spPr>
          <a:xfrm>
            <a:off x="819150" y="1990725"/>
            <a:ext cx="7505700" cy="2448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3" name="Google Shape;43;p18"/>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44"/>
        <p:cNvGrpSpPr/>
        <p:nvPr/>
      </p:nvGrpSpPr>
      <p:grpSpPr>
        <a:xfrm>
          <a:off x="0" y="0"/>
          <a:ext cx="0" cy="0"/>
          <a:chOff x="0" y="0"/>
          <a:chExt cx="0" cy="0"/>
        </a:xfrm>
      </p:grpSpPr>
      <p:sp>
        <p:nvSpPr>
          <p:cNvPr id="45" name="Google Shape;45;p1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1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1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19"/>
          <p:cNvSpPr txBox="1">
            <a:spLocks noGrp="1"/>
          </p:cNvSpPr>
          <p:nvPr>
            <p:ph type="title"/>
          </p:nvPr>
        </p:nvSpPr>
        <p:spPr>
          <a:xfrm>
            <a:off x="819150" y="845600"/>
            <a:ext cx="7505700" cy="954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9" name="Google Shape;49;p19"/>
          <p:cNvSpPr txBox="1">
            <a:spLocks noGrp="1"/>
          </p:cNvSpPr>
          <p:nvPr>
            <p:ph type="body" idx="1"/>
          </p:nvPr>
        </p:nvSpPr>
        <p:spPr>
          <a:xfrm>
            <a:off x="819150" y="1990725"/>
            <a:ext cx="3686100" cy="2448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0" name="Google Shape;50;p19"/>
          <p:cNvSpPr txBox="1">
            <a:spLocks noGrp="1"/>
          </p:cNvSpPr>
          <p:nvPr>
            <p:ph type="body" idx="2"/>
          </p:nvPr>
        </p:nvSpPr>
        <p:spPr>
          <a:xfrm>
            <a:off x="4638675" y="1990725"/>
            <a:ext cx="3686100" cy="2448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1" name="Google Shape;51;p19"/>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2"/>
        <p:cNvGrpSpPr/>
        <p:nvPr/>
      </p:nvGrpSpPr>
      <p:grpSpPr>
        <a:xfrm>
          <a:off x="0" y="0"/>
          <a:ext cx="0" cy="0"/>
          <a:chOff x="0" y="0"/>
          <a:chExt cx="0" cy="0"/>
        </a:xfrm>
      </p:grpSpPr>
      <p:sp>
        <p:nvSpPr>
          <p:cNvPr id="53" name="Google Shape;53;p20"/>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4" name="Google Shape;54;p20"/>
          <p:cNvGrpSpPr/>
          <p:nvPr/>
        </p:nvGrpSpPr>
        <p:grpSpPr>
          <a:xfrm>
            <a:off x="5594191" y="3961115"/>
            <a:ext cx="2910144" cy="1182340"/>
            <a:chOff x="6917201" y="0"/>
            <a:chExt cx="2227776" cy="863400"/>
          </a:xfrm>
        </p:grpSpPr>
        <p:sp>
          <p:nvSpPr>
            <p:cNvPr id="55" name="Google Shape;55;p20"/>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20"/>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0"/>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8" name="Google Shape;58;p20"/>
          <p:cNvGrpSpPr/>
          <p:nvPr/>
        </p:nvGrpSpPr>
        <p:grpSpPr>
          <a:xfrm>
            <a:off x="199149" y="2"/>
            <a:ext cx="2795413" cy="1083308"/>
            <a:chOff x="6917201" y="0"/>
            <a:chExt cx="2227776" cy="863400"/>
          </a:xfrm>
        </p:grpSpPr>
        <p:sp>
          <p:nvSpPr>
            <p:cNvPr id="59" name="Google Shape;59;p20"/>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0"/>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0"/>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2" name="Google Shape;62;p20"/>
          <p:cNvSpPr txBox="1">
            <a:spLocks noGrp="1"/>
          </p:cNvSpPr>
          <p:nvPr>
            <p:ph type="title"/>
          </p:nvPr>
        </p:nvSpPr>
        <p:spPr>
          <a:xfrm>
            <a:off x="1888684" y="1746100"/>
            <a:ext cx="53775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a:endParaRPr/>
          </a:p>
        </p:txBody>
      </p:sp>
      <p:sp>
        <p:nvSpPr>
          <p:cNvPr id="63" name="Google Shape;63;p20"/>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21"/>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1"/>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1"/>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1"/>
          <p:cNvSpPr txBox="1">
            <a:spLocks noGrp="1"/>
          </p:cNvSpPr>
          <p:nvPr>
            <p:ph type="title"/>
          </p:nvPr>
        </p:nvSpPr>
        <p:spPr>
          <a:xfrm>
            <a:off x="819150" y="845600"/>
            <a:ext cx="7505700" cy="954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69" name="Google Shape;69;p2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22"/>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22"/>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22"/>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22"/>
          <p:cNvSpPr txBox="1">
            <a:spLocks noGrp="1"/>
          </p:cNvSpPr>
          <p:nvPr>
            <p:ph type="title"/>
          </p:nvPr>
        </p:nvSpPr>
        <p:spPr>
          <a:xfrm>
            <a:off x="819150" y="845600"/>
            <a:ext cx="3709200" cy="1383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75" name="Google Shape;75;p22"/>
          <p:cNvSpPr txBox="1">
            <a:spLocks noGrp="1"/>
          </p:cNvSpPr>
          <p:nvPr>
            <p:ph type="body" idx="1"/>
          </p:nvPr>
        </p:nvSpPr>
        <p:spPr>
          <a:xfrm>
            <a:off x="830700" y="2319050"/>
            <a:ext cx="3709200" cy="21198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22"/>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23"/>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3"/>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0" name="Google Shape;80;p23"/>
          <p:cNvGrpSpPr/>
          <p:nvPr/>
        </p:nvGrpSpPr>
        <p:grpSpPr>
          <a:xfrm>
            <a:off x="255991" y="-118"/>
            <a:ext cx="2251347" cy="1043408"/>
            <a:chOff x="3961956" y="4383950"/>
            <a:chExt cx="1160548" cy="548700"/>
          </a:xfrm>
        </p:grpSpPr>
        <p:sp>
          <p:nvSpPr>
            <p:cNvPr id="81" name="Google Shape;81;p23"/>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3"/>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3"/>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23"/>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5" name="Google Shape;85;p23"/>
          <p:cNvGrpSpPr/>
          <p:nvPr/>
        </p:nvGrpSpPr>
        <p:grpSpPr>
          <a:xfrm>
            <a:off x="34934" y="4522125"/>
            <a:ext cx="1593305" cy="617072"/>
            <a:chOff x="6917201" y="0"/>
            <a:chExt cx="2227776" cy="863400"/>
          </a:xfrm>
        </p:grpSpPr>
        <p:sp>
          <p:nvSpPr>
            <p:cNvPr id="86" name="Google Shape;86;p23"/>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23"/>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3"/>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9" name="Google Shape;89;p23"/>
          <p:cNvGrpSpPr/>
          <p:nvPr/>
        </p:nvGrpSpPr>
        <p:grpSpPr>
          <a:xfrm>
            <a:off x="5886353" y="1243"/>
            <a:ext cx="3257454" cy="1261514"/>
            <a:chOff x="6917201" y="0"/>
            <a:chExt cx="2227776" cy="863400"/>
          </a:xfrm>
        </p:grpSpPr>
        <p:sp>
          <p:nvSpPr>
            <p:cNvPr id="90" name="Google Shape;90;p23"/>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3"/>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3"/>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3" name="Google Shape;93;p23"/>
          <p:cNvSpPr txBox="1">
            <a:spLocks noGrp="1"/>
          </p:cNvSpPr>
          <p:nvPr>
            <p:ph type="title"/>
          </p:nvPr>
        </p:nvSpPr>
        <p:spPr>
          <a:xfrm>
            <a:off x="1393929" y="1301146"/>
            <a:ext cx="6366900" cy="25392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94" name="Google Shape;94;p23"/>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2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4"/>
          <p:cNvSpPr txBox="1">
            <a:spLocks noGrp="1"/>
          </p:cNvSpPr>
          <p:nvPr>
            <p:ph type="title"/>
          </p:nvPr>
        </p:nvSpPr>
        <p:spPr>
          <a:xfrm>
            <a:off x="819150" y="845600"/>
            <a:ext cx="6424200" cy="705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00" name="Google Shape;100;p24"/>
          <p:cNvSpPr txBox="1">
            <a:spLocks noGrp="1"/>
          </p:cNvSpPr>
          <p:nvPr>
            <p:ph type="subTitle" idx="1"/>
          </p:nvPr>
        </p:nvSpPr>
        <p:spPr>
          <a:xfrm>
            <a:off x="819150" y="1550700"/>
            <a:ext cx="5859900" cy="39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24"/>
          <p:cNvSpPr txBox="1">
            <a:spLocks noGrp="1"/>
          </p:cNvSpPr>
          <p:nvPr>
            <p:ph type="body" idx="2"/>
          </p:nvPr>
        </p:nvSpPr>
        <p:spPr>
          <a:xfrm>
            <a:off x="819150" y="2467050"/>
            <a:ext cx="5859900" cy="209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02" name="Google Shape;102;p24"/>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25"/>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5"/>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25"/>
          <p:cNvSpPr txBox="1">
            <a:spLocks noGrp="1"/>
          </p:cNvSpPr>
          <p:nvPr>
            <p:ph type="body" idx="1"/>
          </p:nvPr>
        </p:nvSpPr>
        <p:spPr>
          <a:xfrm>
            <a:off x="328025" y="4163500"/>
            <a:ext cx="7415100" cy="605100"/>
          </a:xfrm>
          <a:prstGeom prst="rect">
            <a:avLst/>
          </a:prstGeom>
          <a:noFill/>
          <a:ln>
            <a:noFill/>
          </a:ln>
        </p:spPr>
        <p:txBody>
          <a:bodyPr spcFirstLastPara="1" wrap="square" lIns="91425" tIns="91425" rIns="91425" bIns="91425" anchor="b"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108" name="Google Shape;108;p25"/>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26"/>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1" name="Google Shape;111;p26"/>
          <p:cNvGrpSpPr/>
          <p:nvPr/>
        </p:nvGrpSpPr>
        <p:grpSpPr>
          <a:xfrm>
            <a:off x="5959222" y="4119576"/>
            <a:ext cx="2520951" cy="1024165"/>
            <a:chOff x="6917201" y="0"/>
            <a:chExt cx="2227776" cy="863400"/>
          </a:xfrm>
        </p:grpSpPr>
        <p:sp>
          <p:nvSpPr>
            <p:cNvPr id="112" name="Google Shape;112;p26"/>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26"/>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6"/>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5" name="Google Shape;115;p26"/>
          <p:cNvGrpSpPr/>
          <p:nvPr/>
        </p:nvGrpSpPr>
        <p:grpSpPr>
          <a:xfrm>
            <a:off x="199149" y="2"/>
            <a:ext cx="2795413" cy="1083308"/>
            <a:chOff x="6917201" y="0"/>
            <a:chExt cx="2227776" cy="863400"/>
          </a:xfrm>
        </p:grpSpPr>
        <p:sp>
          <p:nvSpPr>
            <p:cNvPr id="116" name="Google Shape;116;p26"/>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26"/>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6"/>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9" name="Google Shape;119;p26"/>
          <p:cNvSpPr txBox="1">
            <a:spLocks noGrp="1"/>
          </p:cNvSpPr>
          <p:nvPr>
            <p:ph type="title" hasCustomPrompt="1"/>
          </p:nvPr>
        </p:nvSpPr>
        <p:spPr>
          <a:xfrm>
            <a:off x="1385850" y="1383850"/>
            <a:ext cx="6372300" cy="13797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26"/>
          <p:cNvSpPr txBox="1">
            <a:spLocks noGrp="1"/>
          </p:cNvSpPr>
          <p:nvPr>
            <p:ph type="body" idx="1"/>
          </p:nvPr>
        </p:nvSpPr>
        <p:spPr>
          <a:xfrm>
            <a:off x="1385850" y="2863850"/>
            <a:ext cx="6372300" cy="641100"/>
          </a:xfrm>
          <a:prstGeom prst="rect">
            <a:avLst/>
          </a:prstGeom>
          <a:noFill/>
          <a:ln>
            <a:noFill/>
          </a:ln>
        </p:spPr>
        <p:txBody>
          <a:bodyPr spcFirstLastPara="1" wrap="square" lIns="91425" tIns="91425" rIns="91425" bIns="91425" anchor="t" anchorCtr="0">
            <a:normAutofit/>
          </a:bodyPr>
          <a:lstStyle>
            <a:lvl1pPr marL="457200" lvl="0" indent="-311150" algn="ctr">
              <a:lnSpc>
                <a:spcPct val="115000"/>
              </a:lnSpc>
              <a:spcBef>
                <a:spcPts val="0"/>
              </a:spcBef>
              <a:spcAft>
                <a:spcPts val="0"/>
              </a:spcAft>
              <a:buSzPts val="1300"/>
              <a:buChar char="●"/>
              <a:defRPr/>
            </a:lvl1pPr>
            <a:lvl2pPr marL="914400" lvl="1" indent="-298450" algn="ctr">
              <a:lnSpc>
                <a:spcPct val="115000"/>
              </a:lnSpc>
              <a:spcBef>
                <a:spcPts val="0"/>
              </a:spcBef>
              <a:spcAft>
                <a:spcPts val="0"/>
              </a:spcAft>
              <a:buSzPts val="1100"/>
              <a:buChar char="○"/>
              <a:defRPr/>
            </a:lvl2pPr>
            <a:lvl3pPr marL="1371600" lvl="2" indent="-298450" algn="ctr">
              <a:lnSpc>
                <a:spcPct val="115000"/>
              </a:lnSpc>
              <a:spcBef>
                <a:spcPts val="0"/>
              </a:spcBef>
              <a:spcAft>
                <a:spcPts val="0"/>
              </a:spcAft>
              <a:buSzPts val="1100"/>
              <a:buChar char="■"/>
              <a:defRPr/>
            </a:lvl3pPr>
            <a:lvl4pPr marL="1828800" lvl="3" indent="-298450" algn="ctr">
              <a:lnSpc>
                <a:spcPct val="115000"/>
              </a:lnSpc>
              <a:spcBef>
                <a:spcPts val="0"/>
              </a:spcBef>
              <a:spcAft>
                <a:spcPts val="0"/>
              </a:spcAft>
              <a:buSzPts val="1100"/>
              <a:buChar char="●"/>
              <a:defRPr/>
            </a:lvl4pPr>
            <a:lvl5pPr marL="2286000" lvl="4" indent="-298450" algn="ctr">
              <a:lnSpc>
                <a:spcPct val="115000"/>
              </a:lnSpc>
              <a:spcBef>
                <a:spcPts val="0"/>
              </a:spcBef>
              <a:spcAft>
                <a:spcPts val="0"/>
              </a:spcAft>
              <a:buSzPts val="1100"/>
              <a:buChar char="○"/>
              <a:defRPr/>
            </a:lvl5pPr>
            <a:lvl6pPr marL="2743200" lvl="5" indent="-298450" algn="ctr">
              <a:lnSpc>
                <a:spcPct val="115000"/>
              </a:lnSpc>
              <a:spcBef>
                <a:spcPts val="0"/>
              </a:spcBef>
              <a:spcAft>
                <a:spcPts val="0"/>
              </a:spcAft>
              <a:buSzPts val="1100"/>
              <a:buChar char="■"/>
              <a:defRPr/>
            </a:lvl6pPr>
            <a:lvl7pPr marL="3200400" lvl="6" indent="-298450" algn="ctr">
              <a:lnSpc>
                <a:spcPct val="115000"/>
              </a:lnSpc>
              <a:spcBef>
                <a:spcPts val="0"/>
              </a:spcBef>
              <a:spcAft>
                <a:spcPts val="0"/>
              </a:spcAft>
              <a:buSzPts val="1100"/>
              <a:buChar char="●"/>
              <a:defRPr/>
            </a:lvl7pPr>
            <a:lvl8pPr marL="3657600" lvl="7" indent="-298450" algn="ctr">
              <a:lnSpc>
                <a:spcPct val="115000"/>
              </a:lnSpc>
              <a:spcBef>
                <a:spcPts val="0"/>
              </a:spcBef>
              <a:spcAft>
                <a:spcPts val="0"/>
              </a:spcAft>
              <a:buSzPts val="1100"/>
              <a:buChar char="○"/>
              <a:defRPr/>
            </a:lvl8pPr>
            <a:lvl9pPr marL="4114800" lvl="8" indent="-298450" algn="ctr">
              <a:lnSpc>
                <a:spcPct val="115000"/>
              </a:lnSpc>
              <a:spcBef>
                <a:spcPts val="0"/>
              </a:spcBef>
              <a:spcAft>
                <a:spcPts val="0"/>
              </a:spcAft>
              <a:buSzPts val="1100"/>
              <a:buChar char="■"/>
              <a:defRPr/>
            </a:lvl9pPr>
          </a:lstStyle>
          <a:p>
            <a:endParaRPr/>
          </a:p>
        </p:txBody>
      </p:sp>
      <p:sp>
        <p:nvSpPr>
          <p:cNvPr id="121" name="Google Shape;121;p26"/>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27"/>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2pPr>
            <a:lvl3pPr marR="0" lvl="2"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3pPr>
            <a:lvl4pPr marR="0" lvl="3"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4pPr>
            <a:lvl5pPr marR="0" lvl="4"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5pPr>
            <a:lvl6pPr marR="0" lvl="5"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6pPr>
            <a:lvl7pPr marR="0" lvl="6"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7pPr>
            <a:lvl8pPr marR="0" lvl="7"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8pPr>
            <a:lvl9pPr marR="0" lvl="8"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9pPr>
          </a:lstStyle>
          <a:p>
            <a:endParaRPr/>
          </a:p>
        </p:txBody>
      </p:sp>
      <p:sp>
        <p:nvSpPr>
          <p:cNvPr id="7" name="Google Shape;7;p16"/>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endParaRPr/>
          </a:p>
        </p:txBody>
      </p:sp>
      <p:sp>
        <p:nvSpPr>
          <p:cNvPr id="8" name="Google Shape;8;p16"/>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
          <p:cNvSpPr txBox="1">
            <a:spLocks noGrp="1"/>
          </p:cNvSpPr>
          <p:nvPr>
            <p:ph type="ctrTitle"/>
          </p:nvPr>
        </p:nvSpPr>
        <p:spPr>
          <a:xfrm>
            <a:off x="1017300" y="632825"/>
            <a:ext cx="7109400" cy="136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90"/>
              <a:buNone/>
            </a:pPr>
            <a:r>
              <a:rPr lang="en-US" sz="3320" b="1"/>
              <a:t>Cyber Breach Research</a:t>
            </a:r>
            <a:endParaRPr sz="3320" b="1"/>
          </a:p>
          <a:p>
            <a:pPr marL="0" lvl="0" indent="0" algn="ctr" rtl="0">
              <a:lnSpc>
                <a:spcPct val="100000"/>
              </a:lnSpc>
              <a:spcBef>
                <a:spcPts val="0"/>
              </a:spcBef>
              <a:spcAft>
                <a:spcPts val="0"/>
              </a:spcAft>
              <a:buSzPts val="990"/>
              <a:buNone/>
            </a:pPr>
            <a:r>
              <a:rPr lang="en-US" sz="3320" b="1"/>
              <a:t> &amp; </a:t>
            </a:r>
            <a:endParaRPr sz="3320" b="1"/>
          </a:p>
          <a:p>
            <a:pPr marL="0" lvl="0" indent="0" algn="ctr" rtl="0">
              <a:lnSpc>
                <a:spcPct val="100000"/>
              </a:lnSpc>
              <a:spcBef>
                <a:spcPts val="0"/>
              </a:spcBef>
              <a:spcAft>
                <a:spcPts val="0"/>
              </a:spcAft>
              <a:buSzPts val="990"/>
              <a:buNone/>
            </a:pPr>
            <a:r>
              <a:rPr lang="en-US" sz="3320" b="1"/>
              <a:t>Control Recommendations</a:t>
            </a:r>
            <a:endParaRPr sz="3320" b="1"/>
          </a:p>
        </p:txBody>
      </p:sp>
      <p:sp>
        <p:nvSpPr>
          <p:cNvPr id="129" name="Google Shape;129;p1"/>
          <p:cNvSpPr txBox="1">
            <a:spLocks noGrp="1"/>
          </p:cNvSpPr>
          <p:nvPr>
            <p:ph type="subTitle" idx="1"/>
          </p:nvPr>
        </p:nvSpPr>
        <p:spPr>
          <a:xfrm>
            <a:off x="6209525" y="4178300"/>
            <a:ext cx="2648100" cy="5226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605"/>
              <a:buNone/>
            </a:pPr>
            <a:r>
              <a:rPr lang="en-US" sz="1080"/>
              <a:t>Operational Cybersecurity Management</a:t>
            </a:r>
            <a:endParaRPr sz="1080"/>
          </a:p>
          <a:p>
            <a:pPr marL="0" lvl="0" indent="0" algn="ctr" rtl="0">
              <a:lnSpc>
                <a:spcPct val="80000"/>
              </a:lnSpc>
              <a:spcBef>
                <a:spcPts val="0"/>
              </a:spcBef>
              <a:spcAft>
                <a:spcPts val="0"/>
              </a:spcAft>
              <a:buSzPts val="605"/>
              <a:buNone/>
            </a:pPr>
            <a:r>
              <a:rPr lang="en-US" sz="1080"/>
              <a:t>Dr. Branden Williams</a:t>
            </a:r>
            <a:endParaRPr sz="1080"/>
          </a:p>
          <a:p>
            <a:pPr marL="0" lvl="0" indent="0" algn="ctr" rtl="0">
              <a:lnSpc>
                <a:spcPct val="80000"/>
              </a:lnSpc>
              <a:spcBef>
                <a:spcPts val="0"/>
              </a:spcBef>
              <a:spcAft>
                <a:spcPts val="0"/>
              </a:spcAft>
              <a:buSzPts val="605"/>
              <a:buNone/>
            </a:pPr>
            <a:r>
              <a:rPr lang="en-US" sz="1080"/>
              <a:t>Summer 2022</a:t>
            </a:r>
            <a:endParaRPr sz="1080"/>
          </a:p>
        </p:txBody>
      </p:sp>
      <p:sp>
        <p:nvSpPr>
          <p:cNvPr id="130" name="Google Shape;130;p1"/>
          <p:cNvSpPr txBox="1"/>
          <p:nvPr/>
        </p:nvSpPr>
        <p:spPr>
          <a:xfrm>
            <a:off x="1824575" y="3642800"/>
            <a:ext cx="18939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Nunito"/>
                <a:ea typeface="Nunito"/>
                <a:cs typeface="Nunito"/>
                <a:sym typeface="Nunito"/>
              </a:rPr>
              <a:t>Shaquilla Chambers</a:t>
            </a:r>
            <a:endParaRPr sz="1300" b="1" i="0" u="none" strike="noStrike" cap="none">
              <a:solidFill>
                <a:srgbClr val="000000"/>
              </a:solidFill>
              <a:latin typeface="Nunito"/>
              <a:ea typeface="Nunito"/>
              <a:cs typeface="Nunito"/>
              <a:sym typeface="Nunito"/>
            </a:endParaRPr>
          </a:p>
        </p:txBody>
      </p:sp>
      <p:sp>
        <p:nvSpPr>
          <p:cNvPr id="131" name="Google Shape;131;p1"/>
          <p:cNvSpPr txBox="1"/>
          <p:nvPr/>
        </p:nvSpPr>
        <p:spPr>
          <a:xfrm>
            <a:off x="3714738" y="3642800"/>
            <a:ext cx="1714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Nunito"/>
                <a:ea typeface="Nunito"/>
                <a:cs typeface="Nunito"/>
                <a:sym typeface="Nunito"/>
              </a:rPr>
              <a:t>Christopher Phan</a:t>
            </a:r>
            <a:endParaRPr sz="1300" b="1" i="0" u="none" strike="noStrike" cap="none">
              <a:solidFill>
                <a:srgbClr val="000000"/>
              </a:solidFill>
              <a:latin typeface="Nunito"/>
              <a:ea typeface="Nunito"/>
              <a:cs typeface="Nunito"/>
              <a:sym typeface="Nunito"/>
            </a:endParaRPr>
          </a:p>
        </p:txBody>
      </p:sp>
      <p:sp>
        <p:nvSpPr>
          <p:cNvPr id="132" name="Google Shape;132;p1"/>
          <p:cNvSpPr txBox="1"/>
          <p:nvPr/>
        </p:nvSpPr>
        <p:spPr>
          <a:xfrm>
            <a:off x="5589725" y="3642788"/>
            <a:ext cx="14502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000000"/>
                </a:solidFill>
                <a:latin typeface="Nunito"/>
                <a:ea typeface="Nunito"/>
                <a:cs typeface="Nunito"/>
                <a:sym typeface="Nunito"/>
              </a:rPr>
              <a:t>Zachary Zerger</a:t>
            </a:r>
            <a:endParaRPr sz="1300" b="1" i="0" u="none" strike="noStrike" cap="none">
              <a:solidFill>
                <a:srgbClr val="000000"/>
              </a:solidFill>
              <a:latin typeface="Nunito"/>
              <a:ea typeface="Nunito"/>
              <a:cs typeface="Nunito"/>
              <a:sym typeface="Nunito"/>
            </a:endParaRPr>
          </a:p>
        </p:txBody>
      </p:sp>
      <p:pic>
        <p:nvPicPr>
          <p:cNvPr id="133" name="Google Shape;133;p1"/>
          <p:cNvPicPr preferRelativeResize="0"/>
          <p:nvPr/>
        </p:nvPicPr>
        <p:blipFill rotWithShape="1">
          <a:blip r:embed="rId3">
            <a:alphaModFix/>
          </a:blip>
          <a:srcRect l="11465" t="4361"/>
          <a:stretch/>
        </p:blipFill>
        <p:spPr>
          <a:xfrm>
            <a:off x="2046425" y="2177278"/>
            <a:ext cx="1450200" cy="1465522"/>
          </a:xfrm>
          <a:prstGeom prst="rect">
            <a:avLst/>
          </a:prstGeom>
          <a:noFill/>
          <a:ln>
            <a:noFill/>
          </a:ln>
          <a:effectLst>
            <a:outerShdw blurRad="57150" dist="19050" dir="5400000" algn="bl" rotWithShape="0">
              <a:srgbClr val="000000">
                <a:alpha val="49803"/>
              </a:srgbClr>
            </a:outerShdw>
          </a:effectLst>
        </p:spPr>
      </p:pic>
      <p:pic>
        <p:nvPicPr>
          <p:cNvPr id="134" name="Google Shape;134;p1"/>
          <p:cNvPicPr preferRelativeResize="0"/>
          <p:nvPr/>
        </p:nvPicPr>
        <p:blipFill rotWithShape="1">
          <a:blip r:embed="rId4">
            <a:alphaModFix/>
          </a:blip>
          <a:srcRect l="25082" r="23070" b="57200"/>
          <a:stretch/>
        </p:blipFill>
        <p:spPr>
          <a:xfrm>
            <a:off x="3765188" y="2189290"/>
            <a:ext cx="1450200" cy="14415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5">
            <a:alphaModFix/>
          </a:blip>
          <a:srcRect l="13597" r="10053" b="30824"/>
          <a:stretch/>
        </p:blipFill>
        <p:spPr>
          <a:xfrm>
            <a:off x="5483963" y="2156288"/>
            <a:ext cx="1513475" cy="1507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
          <p:cNvSpPr txBox="1">
            <a:spLocks noGrp="1"/>
          </p:cNvSpPr>
          <p:nvPr>
            <p:ph type="title"/>
          </p:nvPr>
        </p:nvSpPr>
        <p:spPr>
          <a:xfrm>
            <a:off x="765450" y="352425"/>
            <a:ext cx="7026900" cy="9546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7000"/>
              </a:lnSpc>
              <a:spcBef>
                <a:spcPts val="0"/>
              </a:spcBef>
              <a:spcAft>
                <a:spcPts val="800"/>
              </a:spcAft>
              <a:buSzPct val="104166"/>
              <a:buNone/>
            </a:pPr>
            <a:r>
              <a:rPr lang="en-US" sz="3200" b="1" dirty="0">
                <a:latin typeface="Nunito"/>
                <a:ea typeface="Nunito"/>
                <a:cs typeface="Nunito"/>
                <a:sym typeface="Nunito"/>
              </a:rPr>
              <a:t>The Colonial Pipeline Ransomware Attack</a:t>
            </a:r>
            <a:endParaRPr sz="3200" dirty="0">
              <a:latin typeface="Nunito"/>
              <a:ea typeface="Nunito"/>
              <a:cs typeface="Nunito"/>
              <a:sym typeface="Nunito"/>
            </a:endParaRPr>
          </a:p>
        </p:txBody>
      </p:sp>
      <p:sp>
        <p:nvSpPr>
          <p:cNvPr id="141" name="Google Shape;141;p3"/>
          <p:cNvSpPr txBox="1">
            <a:spLocks noGrp="1"/>
          </p:cNvSpPr>
          <p:nvPr>
            <p:ph type="body" idx="1"/>
          </p:nvPr>
        </p:nvSpPr>
        <p:spPr>
          <a:xfrm>
            <a:off x="765450" y="1540450"/>
            <a:ext cx="3766800" cy="296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r>
              <a:rPr lang="en-US" sz="1400" dirty="0">
                <a:solidFill>
                  <a:srgbClr val="151515"/>
                </a:solidFill>
                <a:latin typeface="Nunito Medium"/>
                <a:ea typeface="Nunito Medium"/>
                <a:cs typeface="Nunito Medium"/>
                <a:sym typeface="Nunito Medium"/>
              </a:rPr>
              <a:t>Colonial Pipeline :</a:t>
            </a:r>
          </a:p>
          <a:p>
            <a:pPr marL="0" lvl="0" indent="0" algn="l" rtl="0">
              <a:lnSpc>
                <a:spcPct val="115000"/>
              </a:lnSpc>
              <a:spcBef>
                <a:spcPts val="0"/>
              </a:spcBef>
              <a:spcAft>
                <a:spcPts val="0"/>
              </a:spcAft>
              <a:buSzPts val="1300"/>
              <a:buNone/>
            </a:pPr>
            <a:endParaRPr sz="1400" dirty="0">
              <a:latin typeface="Nunito Medium"/>
              <a:ea typeface="Nunito Medium"/>
              <a:cs typeface="Nunito Medium"/>
              <a:sym typeface="Nunito Medium"/>
            </a:endParaRPr>
          </a:p>
          <a:p>
            <a:pPr marL="457200" lvl="0" indent="-304800" algn="l" rtl="0">
              <a:lnSpc>
                <a:spcPct val="150000"/>
              </a:lnSpc>
              <a:spcBef>
                <a:spcPts val="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Transports 45% of fuel to east coast </a:t>
            </a:r>
            <a:endParaRPr lang="en-US" sz="1400" dirty="0">
              <a:latin typeface="Nunito Medium"/>
              <a:ea typeface="Nunito Medium"/>
              <a:cs typeface="Nunito Medium"/>
              <a:sym typeface="Nunito Medium"/>
            </a:endParaRPr>
          </a:p>
          <a:p>
            <a:pPr marL="457200" lvl="0" indent="-304800" algn="l" rtl="0">
              <a:lnSpc>
                <a:spcPct val="150000"/>
              </a:lnSpc>
              <a:spcBef>
                <a:spcPts val="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1.3 billion in revenue </a:t>
            </a:r>
            <a:endParaRPr sz="1400" dirty="0">
              <a:latin typeface="Nunito Medium"/>
              <a:ea typeface="Nunito Medium"/>
              <a:cs typeface="Nunito Medium"/>
              <a:sym typeface="Nunito Medium"/>
            </a:endParaRPr>
          </a:p>
          <a:p>
            <a:pPr marL="457200" lvl="0" indent="-304800" algn="l" rtl="0">
              <a:lnSpc>
                <a:spcPct val="150000"/>
              </a:lnSpc>
              <a:spcBef>
                <a:spcPts val="0"/>
              </a:spcBef>
              <a:spcAft>
                <a:spcPts val="0"/>
              </a:spcAft>
              <a:buSzPts val="1200"/>
              <a:buFont typeface="Nunito Medium"/>
              <a:buChar char="➢"/>
            </a:pPr>
            <a:r>
              <a:rPr lang="en-US" sz="1400" dirty="0">
                <a:solidFill>
                  <a:srgbClr val="151515"/>
                </a:solidFill>
                <a:latin typeface="Nunito Medium"/>
                <a:ea typeface="Nunito Medium"/>
                <a:cs typeface="Nunito Medium"/>
                <a:sym typeface="Nunito Medium"/>
              </a:rPr>
              <a:t>5,500 miles of pipeline  </a:t>
            </a:r>
            <a:r>
              <a:rPr lang="en-US" sz="1400" dirty="0">
                <a:latin typeface="Nunito Medium"/>
                <a:ea typeface="Nunito Medium"/>
                <a:cs typeface="Nunito Medium"/>
                <a:sym typeface="Nunito Medium"/>
              </a:rPr>
              <a:t> </a:t>
            </a:r>
            <a:endParaRPr sz="1400" dirty="0">
              <a:latin typeface="Nunito Medium"/>
              <a:ea typeface="Nunito Medium"/>
              <a:cs typeface="Nunito Medium"/>
              <a:sym typeface="Nunito Medium"/>
            </a:endParaRPr>
          </a:p>
          <a:p>
            <a:pPr marL="0" lvl="0" indent="0" algn="l" rtl="0">
              <a:lnSpc>
                <a:spcPct val="115000"/>
              </a:lnSpc>
              <a:spcBef>
                <a:spcPts val="1200"/>
              </a:spcBef>
              <a:spcAft>
                <a:spcPts val="0"/>
              </a:spcAft>
              <a:buNone/>
            </a:pPr>
            <a:r>
              <a:rPr lang="en-US" sz="1400" dirty="0">
                <a:solidFill>
                  <a:srgbClr val="151515"/>
                </a:solidFill>
                <a:latin typeface="Nunito Medium"/>
                <a:ea typeface="Nunito Medium"/>
                <a:cs typeface="Nunito Medium"/>
                <a:sym typeface="Nunito Medium"/>
              </a:rPr>
              <a:t>Ransomware attack on May 7, 2021: </a:t>
            </a:r>
            <a:endParaRPr sz="1400" dirty="0">
              <a:latin typeface="Nunito Medium"/>
              <a:ea typeface="Nunito Medium"/>
              <a:cs typeface="Nunito Medium"/>
              <a:sym typeface="Nunito Medium"/>
            </a:endParaRPr>
          </a:p>
          <a:p>
            <a:pPr marL="457200" lvl="0" indent="-304800" algn="l" rtl="0">
              <a:lnSpc>
                <a:spcPct val="115000"/>
              </a:lnSpc>
              <a:spcBef>
                <a:spcPts val="120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100 gigabytes of data encrypted </a:t>
            </a:r>
            <a:endParaRPr sz="1400" dirty="0">
              <a:latin typeface="Nunito Medium"/>
              <a:ea typeface="Nunito Medium"/>
              <a:cs typeface="Nunito Medium"/>
              <a:sym typeface="Nunito Medium"/>
            </a:endParaRPr>
          </a:p>
          <a:p>
            <a:pPr marL="457200" lvl="0" indent="-304800" algn="l" rtl="0">
              <a:lnSpc>
                <a:spcPct val="115000"/>
              </a:lnSpc>
              <a:spcBef>
                <a:spcPts val="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75 bitcoin ransom paid </a:t>
            </a:r>
            <a:endParaRPr sz="1400" dirty="0">
              <a:latin typeface="Nunito Medium"/>
              <a:ea typeface="Nunito Medium"/>
              <a:cs typeface="Nunito Medium"/>
              <a:sym typeface="Nunito Medium"/>
            </a:endParaRPr>
          </a:p>
          <a:p>
            <a:pPr marL="457200" lvl="0" indent="-304800" algn="l" rtl="0">
              <a:lnSpc>
                <a:spcPct val="115000"/>
              </a:lnSpc>
              <a:spcBef>
                <a:spcPts val="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 Darkside group </a:t>
            </a:r>
            <a:endParaRPr sz="1400" dirty="0">
              <a:latin typeface="Nunito Medium"/>
              <a:ea typeface="Nunito Medium"/>
              <a:cs typeface="Nunito Medium"/>
              <a:sym typeface="Nunito Medium"/>
            </a:endParaRPr>
          </a:p>
          <a:p>
            <a:pPr marL="457200" lvl="0" indent="-304800" algn="l" rtl="0">
              <a:lnSpc>
                <a:spcPct val="115000"/>
              </a:lnSpc>
              <a:spcBef>
                <a:spcPts val="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 Six-day pipeline shutdown</a:t>
            </a:r>
            <a:endParaRPr sz="1400" dirty="0">
              <a:latin typeface="Nunito Medium"/>
              <a:ea typeface="Nunito Medium"/>
              <a:cs typeface="Nunito Medium"/>
              <a:sym typeface="Nunito Medium"/>
            </a:endParaRPr>
          </a:p>
          <a:p>
            <a:pPr marL="457200" lvl="0" indent="-304800" algn="l" rtl="0">
              <a:lnSpc>
                <a:spcPct val="115000"/>
              </a:lnSpc>
              <a:spcBef>
                <a:spcPts val="0"/>
              </a:spcBef>
              <a:spcAft>
                <a:spcPts val="0"/>
              </a:spcAft>
              <a:buClr>
                <a:srgbClr val="151515"/>
              </a:buClr>
              <a:buSzPts val="1200"/>
              <a:buFont typeface="Nunito Medium"/>
              <a:buChar char="➢"/>
            </a:pPr>
            <a:r>
              <a:rPr lang="en-US" sz="1400" dirty="0">
                <a:solidFill>
                  <a:srgbClr val="151515"/>
                </a:solidFill>
                <a:latin typeface="Nunito Medium"/>
                <a:ea typeface="Nunito Medium"/>
                <a:cs typeface="Nunito Medium"/>
                <a:sym typeface="Nunito Medium"/>
              </a:rPr>
              <a:t>Legacy VPN account responsible </a:t>
            </a:r>
            <a:endParaRPr sz="1400" dirty="0">
              <a:latin typeface="Nunito Medium"/>
              <a:ea typeface="Nunito Medium"/>
              <a:cs typeface="Nunito Medium"/>
              <a:sym typeface="Nunito Medium"/>
            </a:endParaRPr>
          </a:p>
          <a:p>
            <a:pPr marL="0" lvl="0" indent="0" algn="l" rtl="0">
              <a:lnSpc>
                <a:spcPct val="115000"/>
              </a:lnSpc>
              <a:spcBef>
                <a:spcPts val="0"/>
              </a:spcBef>
              <a:spcAft>
                <a:spcPts val="0"/>
              </a:spcAft>
              <a:buClr>
                <a:srgbClr val="000000"/>
              </a:buClr>
              <a:buFont typeface="Arial"/>
              <a:buNone/>
            </a:pPr>
            <a:endParaRPr sz="1400" dirty="0">
              <a:latin typeface="Nunito Medium"/>
              <a:ea typeface="Nunito Medium"/>
              <a:cs typeface="Nunito Medium"/>
              <a:sym typeface="Nunito Medium"/>
            </a:endParaRPr>
          </a:p>
        </p:txBody>
      </p:sp>
      <p:pic>
        <p:nvPicPr>
          <p:cNvPr id="142" name="Google Shape;142;p3" descr="Colonial Pipeline - YouTube"/>
          <p:cNvPicPr preferRelativeResize="0"/>
          <p:nvPr/>
        </p:nvPicPr>
        <p:blipFill rotWithShape="1">
          <a:blip r:embed="rId3">
            <a:alphaModFix/>
          </a:blip>
          <a:srcRect/>
          <a:stretch/>
        </p:blipFill>
        <p:spPr>
          <a:xfrm>
            <a:off x="7978877" y="317550"/>
            <a:ext cx="905182" cy="905182"/>
          </a:xfrm>
          <a:prstGeom prst="rect">
            <a:avLst/>
          </a:prstGeom>
          <a:noFill/>
          <a:ln>
            <a:noFill/>
          </a:ln>
        </p:spPr>
      </p:pic>
      <p:sp>
        <p:nvSpPr>
          <p:cNvPr id="143" name="Google Shape;143;p3"/>
          <p:cNvSpPr txBox="1"/>
          <p:nvPr/>
        </p:nvSpPr>
        <p:spPr>
          <a:xfrm>
            <a:off x="4975775" y="1945350"/>
            <a:ext cx="3307200" cy="2880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rgbClr val="000000"/>
              </a:buClr>
              <a:buFont typeface="Arial"/>
              <a:buNone/>
            </a:pPr>
            <a:r>
              <a:rPr lang="en-US" dirty="0">
                <a:latin typeface="Nunito Medium"/>
                <a:ea typeface="Nunito Medium"/>
                <a:cs typeface="Nunito Medium"/>
                <a:sym typeface="Nunito Medium"/>
              </a:rPr>
              <a:t>Control recommendations: </a:t>
            </a:r>
          </a:p>
          <a:p>
            <a:pPr marL="0" lvl="0" indent="0" algn="l" rtl="0">
              <a:lnSpc>
                <a:spcPct val="115000"/>
              </a:lnSpc>
              <a:spcBef>
                <a:spcPts val="0"/>
              </a:spcBef>
              <a:spcAft>
                <a:spcPts val="0"/>
              </a:spcAft>
              <a:buClr>
                <a:srgbClr val="000000"/>
              </a:buClr>
              <a:buFont typeface="Arial"/>
              <a:buNone/>
            </a:pPr>
            <a:endParaRPr dirty="0">
              <a:latin typeface="Nunito Medium"/>
              <a:ea typeface="Nunito Medium"/>
              <a:cs typeface="Nunito Medium"/>
              <a:sym typeface="Nunito Medium"/>
            </a:endParaRPr>
          </a:p>
          <a:p>
            <a:pPr marL="457200" lvl="0" indent="-304800" algn="l" rtl="0">
              <a:lnSpc>
                <a:spcPct val="115000"/>
              </a:lnSpc>
              <a:spcBef>
                <a:spcPts val="0"/>
              </a:spcBef>
              <a:spcAft>
                <a:spcPts val="0"/>
              </a:spcAft>
              <a:buSzPts val="1200"/>
              <a:buFont typeface="Nunito Medium"/>
              <a:buChar char="➢"/>
            </a:pPr>
            <a:r>
              <a:rPr lang="en-US" dirty="0">
                <a:latin typeface="Nunito Medium"/>
                <a:ea typeface="Nunito Medium"/>
                <a:cs typeface="Nunito Medium"/>
                <a:sym typeface="Nunito Medium"/>
              </a:rPr>
              <a:t>MFA for all remote access</a:t>
            </a:r>
            <a:endParaRPr dirty="0">
              <a:latin typeface="Nunito Medium"/>
              <a:ea typeface="Nunito Medium"/>
              <a:cs typeface="Nunito Medium"/>
              <a:sym typeface="Nunito Medium"/>
            </a:endParaRPr>
          </a:p>
          <a:p>
            <a:pPr marL="457200" lvl="0" indent="-304800" algn="l" rtl="0">
              <a:lnSpc>
                <a:spcPct val="115000"/>
              </a:lnSpc>
              <a:spcBef>
                <a:spcPts val="0"/>
              </a:spcBef>
              <a:spcAft>
                <a:spcPts val="0"/>
              </a:spcAft>
              <a:buSzPts val="1200"/>
              <a:buFont typeface="Nunito Medium"/>
              <a:buChar char="➢"/>
            </a:pPr>
            <a:r>
              <a:rPr lang="en-US" dirty="0">
                <a:latin typeface="Nunito Medium"/>
                <a:ea typeface="Nunito Medium"/>
                <a:cs typeface="Nunito Medium"/>
                <a:sym typeface="Nunito Medium"/>
              </a:rPr>
              <a:t>Vulnerability assessment</a:t>
            </a:r>
            <a:endParaRPr dirty="0">
              <a:latin typeface="Nunito Medium"/>
              <a:ea typeface="Nunito Medium"/>
              <a:cs typeface="Nunito Medium"/>
              <a:sym typeface="Nunito Medium"/>
            </a:endParaRPr>
          </a:p>
          <a:p>
            <a:pPr marL="0" lvl="0" indent="0" algn="l" rtl="0">
              <a:lnSpc>
                <a:spcPct val="115000"/>
              </a:lnSpc>
              <a:spcBef>
                <a:spcPts val="0"/>
              </a:spcBef>
              <a:spcAft>
                <a:spcPts val="0"/>
              </a:spcAft>
              <a:buClr>
                <a:srgbClr val="000000"/>
              </a:buClr>
              <a:buFont typeface="Arial"/>
              <a:buNone/>
            </a:pPr>
            <a:endParaRPr dirty="0">
              <a:latin typeface="Nunito Medium"/>
              <a:ea typeface="Nunito Medium"/>
              <a:cs typeface="Nunito Medium"/>
              <a:sym typeface="Nunito Medium"/>
            </a:endParaRPr>
          </a:p>
          <a:p>
            <a:pPr marL="0" lvl="0" indent="0" algn="l" rtl="0">
              <a:lnSpc>
                <a:spcPct val="115000"/>
              </a:lnSpc>
              <a:spcBef>
                <a:spcPts val="0"/>
              </a:spcBef>
              <a:spcAft>
                <a:spcPts val="0"/>
              </a:spcAft>
              <a:buClr>
                <a:srgbClr val="000000"/>
              </a:buClr>
              <a:buFont typeface="Arial"/>
              <a:buNone/>
            </a:pPr>
            <a:r>
              <a:rPr lang="en-US" dirty="0">
                <a:latin typeface="Nunito Medium"/>
                <a:ea typeface="Nunito Medium"/>
                <a:cs typeface="Nunito Medium"/>
                <a:sym typeface="Nunito Medium"/>
              </a:rPr>
              <a:t>Cybersecurity expert Steve Prairie’s recommendations:</a:t>
            </a:r>
          </a:p>
          <a:p>
            <a:pPr marL="0" lvl="0" indent="0" algn="l" rtl="0">
              <a:lnSpc>
                <a:spcPct val="115000"/>
              </a:lnSpc>
              <a:spcBef>
                <a:spcPts val="0"/>
              </a:spcBef>
              <a:spcAft>
                <a:spcPts val="0"/>
              </a:spcAft>
              <a:buClr>
                <a:srgbClr val="000000"/>
              </a:buClr>
              <a:buFont typeface="Arial"/>
              <a:buNone/>
            </a:pPr>
            <a:r>
              <a:rPr lang="en-US" dirty="0">
                <a:latin typeface="Nunito Medium"/>
                <a:ea typeface="Nunito Medium"/>
                <a:cs typeface="Nunito Medium"/>
                <a:sym typeface="Nunito Medium"/>
              </a:rPr>
              <a:t> </a:t>
            </a:r>
            <a:endParaRPr dirty="0">
              <a:latin typeface="Nunito Medium"/>
              <a:ea typeface="Nunito Medium"/>
              <a:cs typeface="Nunito Medium"/>
              <a:sym typeface="Nunito Medium"/>
            </a:endParaRPr>
          </a:p>
          <a:p>
            <a:pPr marL="457200" lvl="0" indent="-304800" algn="l" rtl="0">
              <a:lnSpc>
                <a:spcPct val="115000"/>
              </a:lnSpc>
              <a:spcBef>
                <a:spcPts val="0"/>
              </a:spcBef>
              <a:spcAft>
                <a:spcPts val="0"/>
              </a:spcAft>
              <a:buSzPts val="1200"/>
              <a:buFont typeface="Nunito Medium"/>
              <a:buChar char="➢"/>
            </a:pPr>
            <a:r>
              <a:rPr lang="en-US" dirty="0">
                <a:latin typeface="Nunito Medium"/>
                <a:ea typeface="Nunito Medium"/>
                <a:cs typeface="Nunito Medium"/>
                <a:sym typeface="Nunito Medium"/>
              </a:rPr>
              <a:t>Penetration testing </a:t>
            </a:r>
            <a:endParaRPr dirty="0">
              <a:latin typeface="Nunito Medium"/>
              <a:ea typeface="Nunito Medium"/>
              <a:cs typeface="Nunito Medium"/>
              <a:sym typeface="Nunito Medium"/>
            </a:endParaRPr>
          </a:p>
          <a:p>
            <a:pPr marL="457200" lvl="0" indent="-304800" algn="l" rtl="0">
              <a:lnSpc>
                <a:spcPct val="115000"/>
              </a:lnSpc>
              <a:spcBef>
                <a:spcPts val="0"/>
              </a:spcBef>
              <a:spcAft>
                <a:spcPts val="0"/>
              </a:spcAft>
              <a:buSzPts val="1200"/>
              <a:buFont typeface="Nunito Medium"/>
              <a:buChar char="➢"/>
            </a:pPr>
            <a:r>
              <a:rPr lang="en-US" dirty="0">
                <a:latin typeface="Nunito Medium"/>
                <a:ea typeface="Nunito Medium"/>
                <a:cs typeface="Nunito Medium"/>
                <a:sym typeface="Nunito Medium"/>
              </a:rPr>
              <a:t>Red team exercises </a:t>
            </a:r>
            <a:endParaRPr dirty="0">
              <a:latin typeface="Nunito Medium"/>
              <a:ea typeface="Nunito Medium"/>
              <a:cs typeface="Nunito Medium"/>
              <a:sym typeface="Nunito Medium"/>
            </a:endParaRPr>
          </a:p>
          <a:p>
            <a:pPr marL="457200" lvl="0" indent="0" algn="l" rtl="0">
              <a:spcBef>
                <a:spcPts val="0"/>
              </a:spcBef>
              <a:spcAft>
                <a:spcPts val="0"/>
              </a:spcAft>
              <a:buNone/>
            </a:pPr>
            <a:endParaRPr dirty="0">
              <a:solidFill>
                <a:schemeClr val="dk2"/>
              </a:solidFill>
              <a:latin typeface="Nunito Medium"/>
              <a:ea typeface="Nunito Medium"/>
              <a:cs typeface="Nunito Medium"/>
              <a:sym typeface="Nunito Medium"/>
            </a:endParaRPr>
          </a:p>
          <a:p>
            <a:pPr marL="0" lvl="0" indent="0" algn="l" rtl="0">
              <a:lnSpc>
                <a:spcPct val="115000"/>
              </a:lnSpc>
              <a:spcBef>
                <a:spcPts val="1200"/>
              </a:spcBef>
              <a:spcAft>
                <a:spcPts val="0"/>
              </a:spcAft>
              <a:buClr>
                <a:srgbClr val="000000"/>
              </a:buClr>
              <a:buSzPts val="1300"/>
              <a:buFont typeface="Arial"/>
              <a:buNone/>
            </a:pPr>
            <a:endParaRPr dirty="0">
              <a:solidFill>
                <a:schemeClr val="dk2"/>
              </a:solidFill>
              <a:latin typeface="Nunito Medium"/>
              <a:ea typeface="Nunito Medium"/>
              <a:cs typeface="Nunito Medium"/>
              <a:sym typeface="Nunito Medium"/>
            </a:endParaRPr>
          </a:p>
          <a:p>
            <a:pPr marL="0" lvl="0" indent="0" algn="l" rtl="0">
              <a:spcBef>
                <a:spcPts val="1200"/>
              </a:spcBef>
              <a:spcAft>
                <a:spcPts val="0"/>
              </a:spcAft>
              <a:buNone/>
            </a:pPr>
            <a:endParaRPr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42"/>
                                        </p:tgtEl>
                                        <p:attrNameLst>
                                          <p:attrName>style.visibility</p:attrName>
                                        </p:attrNameLst>
                                      </p:cBhvr>
                                      <p:to>
                                        <p:strVal val="visible"/>
                                      </p:to>
                                    </p:set>
                                    <p:anim calcmode="lin" valueType="num">
                                      <p:cBhvr additive="base">
                                        <p:cTn id="7" dur="500"/>
                                        <p:tgtEl>
                                          <p:spTgt spid="1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a:spLocks noGrp="1"/>
          </p:cNvSpPr>
          <p:nvPr>
            <p:ph type="title"/>
          </p:nvPr>
        </p:nvSpPr>
        <p:spPr>
          <a:xfrm>
            <a:off x="298384" y="513196"/>
            <a:ext cx="7505700" cy="954600"/>
          </a:xfrm>
          <a:prstGeom prst="rect">
            <a:avLst/>
          </a:prstGeom>
          <a:noFill/>
          <a:ln>
            <a:noFill/>
          </a:ln>
        </p:spPr>
        <p:txBody>
          <a:bodyPr spcFirstLastPara="1" wrap="square" lIns="91425" tIns="91425" rIns="91425" bIns="91425" anchor="t" anchorCtr="0">
            <a:normAutofit/>
          </a:bodyPr>
          <a:lstStyle/>
          <a:p>
            <a:pPr marL="0" lvl="0" indent="0" algn="ctr" rtl="0">
              <a:lnSpc>
                <a:spcPct val="107000"/>
              </a:lnSpc>
              <a:spcBef>
                <a:spcPts val="0"/>
              </a:spcBef>
              <a:spcAft>
                <a:spcPts val="800"/>
              </a:spcAft>
              <a:buSzPts val="3000"/>
              <a:buNone/>
            </a:pPr>
            <a:r>
              <a:rPr lang="en-US" sz="2900" b="1" dirty="0">
                <a:latin typeface="Nunito"/>
                <a:ea typeface="Nunito"/>
                <a:cs typeface="Nunito"/>
                <a:sym typeface="Nunito"/>
              </a:rPr>
              <a:t>Okta Data Breach by Lapsus$ Group </a:t>
            </a:r>
            <a:endParaRPr sz="2900" dirty="0">
              <a:latin typeface="Nunito"/>
              <a:ea typeface="Nunito"/>
              <a:cs typeface="Nunito"/>
              <a:sym typeface="Nunito"/>
            </a:endParaRPr>
          </a:p>
        </p:txBody>
      </p:sp>
      <p:pic>
        <p:nvPicPr>
          <p:cNvPr id="149" name="Google Shape;149;p6"/>
          <p:cNvPicPr preferRelativeResize="0"/>
          <p:nvPr/>
        </p:nvPicPr>
        <p:blipFill rotWithShape="1">
          <a:blip r:embed="rId3">
            <a:alphaModFix/>
          </a:blip>
          <a:srcRect/>
          <a:stretch/>
        </p:blipFill>
        <p:spPr>
          <a:xfrm>
            <a:off x="7440329" y="276054"/>
            <a:ext cx="1405287" cy="474284"/>
          </a:xfrm>
          <a:prstGeom prst="rect">
            <a:avLst/>
          </a:prstGeom>
          <a:noFill/>
          <a:ln>
            <a:noFill/>
          </a:ln>
        </p:spPr>
      </p:pic>
      <p:sp>
        <p:nvSpPr>
          <p:cNvPr id="150" name="Google Shape;150;p6"/>
          <p:cNvSpPr txBox="1"/>
          <p:nvPr/>
        </p:nvSpPr>
        <p:spPr>
          <a:xfrm>
            <a:off x="2348564" y="4745255"/>
            <a:ext cx="1847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 name="Google Shape;151;p6"/>
          <p:cNvSpPr txBox="1"/>
          <p:nvPr/>
        </p:nvSpPr>
        <p:spPr>
          <a:xfrm>
            <a:off x="754179" y="1124294"/>
            <a:ext cx="3373500" cy="362096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dirty="0">
                <a:latin typeface="Nunito Medium"/>
                <a:ea typeface="Nunito Medium"/>
                <a:cs typeface="Nunito Medium"/>
                <a:sym typeface="Nunito Medium"/>
              </a:rPr>
              <a:t>Okta:</a:t>
            </a:r>
          </a:p>
          <a:p>
            <a:pPr marL="0" lvl="0" indent="0" algn="l" rtl="0">
              <a:lnSpc>
                <a:spcPct val="115000"/>
              </a:lnSpc>
              <a:spcBef>
                <a:spcPts val="0"/>
              </a:spcBef>
              <a:spcAft>
                <a:spcPts val="0"/>
              </a:spcAft>
              <a:buNone/>
            </a:pP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Identity and Access Management</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62% revenue growth Y/Y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$14 billion market capitalization </a:t>
            </a:r>
            <a:endParaRPr dirty="0">
              <a:latin typeface="Nunito Medium"/>
              <a:ea typeface="Nunito Medium"/>
              <a:cs typeface="Nunito Medium"/>
              <a:sym typeface="Nunito Medium"/>
            </a:endParaRPr>
          </a:p>
          <a:p>
            <a:pPr marL="457200" lvl="0" indent="0" algn="l" rtl="0">
              <a:lnSpc>
                <a:spcPct val="115000"/>
              </a:lnSpc>
              <a:spcBef>
                <a:spcPts val="0"/>
              </a:spcBef>
              <a:spcAft>
                <a:spcPts val="0"/>
              </a:spcAft>
              <a:buNone/>
            </a:pPr>
            <a:endParaRPr dirty="0">
              <a:latin typeface="Nunito Medium"/>
              <a:ea typeface="Nunito Medium"/>
              <a:cs typeface="Nunito Medium"/>
              <a:sym typeface="Nunito Medium"/>
            </a:endParaRPr>
          </a:p>
          <a:p>
            <a:pPr marL="0" lvl="0" indent="0" algn="l" rtl="0">
              <a:lnSpc>
                <a:spcPct val="115000"/>
              </a:lnSpc>
              <a:spcBef>
                <a:spcPts val="0"/>
              </a:spcBef>
              <a:spcAft>
                <a:spcPts val="0"/>
              </a:spcAft>
              <a:buNone/>
            </a:pPr>
            <a:r>
              <a:rPr lang="en-US" dirty="0">
                <a:latin typeface="Nunito Medium"/>
                <a:ea typeface="Nunito Medium"/>
                <a:cs typeface="Nunito Medium"/>
                <a:sym typeface="Nunito Medium"/>
              </a:rPr>
              <a:t>Cyber breach on January 21, 2020: </a:t>
            </a:r>
          </a:p>
          <a:p>
            <a:pPr marL="0" lvl="0" indent="0" algn="l" rtl="0">
              <a:lnSpc>
                <a:spcPct val="115000"/>
              </a:lnSpc>
              <a:spcBef>
                <a:spcPts val="0"/>
              </a:spcBef>
              <a:spcAft>
                <a:spcPts val="0"/>
              </a:spcAft>
              <a:buNone/>
            </a:pP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25-minute breach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Two customer accounts viewed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Lapsus$ Group</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Vendor account compromised</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Delay in reporting </a:t>
            </a:r>
            <a:endParaRPr dirty="0">
              <a:latin typeface="Nunito Medium"/>
              <a:ea typeface="Nunito Medium"/>
              <a:cs typeface="Nunito Medium"/>
              <a:sym typeface="Nunito Medium"/>
            </a:endParaRPr>
          </a:p>
          <a:p>
            <a:pPr marL="0" lvl="0" indent="0" algn="l" rtl="0">
              <a:spcBef>
                <a:spcPts val="0"/>
              </a:spcBef>
              <a:spcAft>
                <a:spcPts val="0"/>
              </a:spcAft>
              <a:buNone/>
            </a:pPr>
            <a:endParaRPr dirty="0">
              <a:latin typeface="Calibri"/>
              <a:ea typeface="Calibri"/>
              <a:cs typeface="Calibri"/>
              <a:sym typeface="Calibri"/>
            </a:endParaRPr>
          </a:p>
        </p:txBody>
      </p:sp>
      <p:sp>
        <p:nvSpPr>
          <p:cNvPr id="152" name="Google Shape;152;p6"/>
          <p:cNvSpPr txBox="1"/>
          <p:nvPr/>
        </p:nvSpPr>
        <p:spPr>
          <a:xfrm>
            <a:off x="4661121" y="1197000"/>
            <a:ext cx="3728700" cy="263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dirty="0">
                <a:latin typeface="Nunito Medium"/>
                <a:ea typeface="Nunito Medium"/>
                <a:cs typeface="Nunito Medium"/>
                <a:sym typeface="Nunito Medium"/>
              </a:rPr>
              <a:t>Control recommendations: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Vendor risk assessment</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Incident response plan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Vendor access controls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Vendor MFA  </a:t>
            </a:r>
            <a:endParaRPr dirty="0">
              <a:latin typeface="Nunito Medium"/>
              <a:ea typeface="Nunito Medium"/>
              <a:cs typeface="Nunito Medium"/>
              <a:sym typeface="Nunito Medium"/>
            </a:endParaRPr>
          </a:p>
          <a:p>
            <a:pPr marL="0" lvl="0" indent="0" algn="l" rtl="0">
              <a:lnSpc>
                <a:spcPct val="115000"/>
              </a:lnSpc>
              <a:spcBef>
                <a:spcPts val="0"/>
              </a:spcBef>
              <a:spcAft>
                <a:spcPts val="0"/>
              </a:spcAft>
              <a:buNone/>
            </a:pPr>
            <a:endParaRPr dirty="0">
              <a:latin typeface="Nunito Medium"/>
              <a:ea typeface="Nunito Medium"/>
              <a:cs typeface="Nunito Medium"/>
              <a:sym typeface="Nunito Medium"/>
            </a:endParaRPr>
          </a:p>
          <a:p>
            <a:pPr marL="0" lvl="0" indent="0" algn="l" rtl="0">
              <a:lnSpc>
                <a:spcPct val="115000"/>
              </a:lnSpc>
              <a:spcBef>
                <a:spcPts val="0"/>
              </a:spcBef>
              <a:spcAft>
                <a:spcPts val="0"/>
              </a:spcAft>
              <a:buNone/>
            </a:pPr>
            <a:r>
              <a:rPr lang="en-US" dirty="0">
                <a:latin typeface="Nunito Medium"/>
                <a:ea typeface="Nunito Medium"/>
                <a:cs typeface="Nunito Medium"/>
                <a:sym typeface="Nunito Medium"/>
              </a:rPr>
              <a:t>Cybersecurity expert Steve Prairie’s recommendations: </a:t>
            </a:r>
            <a:endParaRPr dirty="0">
              <a:latin typeface="Nunito Medium"/>
              <a:ea typeface="Nunito Medium"/>
              <a:cs typeface="Nunito Medium"/>
              <a:sym typeface="Nunito Medium"/>
            </a:endParaRPr>
          </a:p>
          <a:p>
            <a:pPr marL="457200" lvl="0" indent="-317500" algn="l" rtl="0">
              <a:lnSpc>
                <a:spcPct val="115000"/>
              </a:lnSpc>
              <a:spcBef>
                <a:spcPts val="0"/>
              </a:spcBef>
              <a:spcAft>
                <a:spcPts val="0"/>
              </a:spcAft>
              <a:buSzPts val="1400"/>
              <a:buFont typeface="Nunito Medium"/>
              <a:buChar char="➢"/>
            </a:pPr>
            <a:r>
              <a:rPr lang="en-US" dirty="0">
                <a:latin typeface="Nunito Medium"/>
                <a:ea typeface="Nunito Medium"/>
                <a:cs typeface="Nunito Medium"/>
                <a:sym typeface="Nunito Medium"/>
              </a:rPr>
              <a:t> Log application access </a:t>
            </a:r>
            <a:endParaRPr dirty="0">
              <a:latin typeface="Nunito Medium"/>
              <a:ea typeface="Nunito Medium"/>
              <a:cs typeface="Nunito Medium"/>
              <a:sym typeface="Nunito Medium"/>
            </a:endParaRPr>
          </a:p>
          <a:p>
            <a:pPr marL="0" lvl="0" indent="0" algn="l" rtl="0">
              <a:spcBef>
                <a:spcPts val="0"/>
              </a:spcBef>
              <a:spcAft>
                <a:spcPts val="0"/>
              </a:spcAft>
              <a:buNone/>
            </a:pPr>
            <a:endParaRPr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 calcmode="lin" valueType="num">
                                      <p:cBhvr additive="base">
                                        <p:cTn id="7" dur="500"/>
                                        <p:tgtEl>
                                          <p:spTgt spid="1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
          <p:cNvSpPr txBox="1">
            <a:spLocks noGrp="1"/>
          </p:cNvSpPr>
          <p:nvPr>
            <p:ph type="title"/>
          </p:nvPr>
        </p:nvSpPr>
        <p:spPr>
          <a:xfrm>
            <a:off x="167593" y="433587"/>
            <a:ext cx="7679957" cy="9546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7000"/>
              </a:lnSpc>
              <a:spcBef>
                <a:spcPts val="0"/>
              </a:spcBef>
              <a:spcAft>
                <a:spcPts val="800"/>
              </a:spcAft>
              <a:buSzPct val="104166"/>
              <a:buNone/>
            </a:pPr>
            <a:r>
              <a:rPr lang="en-US" sz="3200" b="1">
                <a:latin typeface="Nunito"/>
                <a:ea typeface="Nunito"/>
                <a:cs typeface="Nunito"/>
                <a:sym typeface="Nunito"/>
              </a:rPr>
              <a:t>Texas Department of Insurance Data Leak</a:t>
            </a:r>
            <a:endParaRPr sz="3200">
              <a:latin typeface="Nunito"/>
              <a:ea typeface="Nunito"/>
              <a:cs typeface="Nunito"/>
              <a:sym typeface="Nunito"/>
            </a:endParaRPr>
          </a:p>
        </p:txBody>
      </p:sp>
      <p:pic>
        <p:nvPicPr>
          <p:cNvPr id="158" name="Google Shape;158;p4"/>
          <p:cNvPicPr preferRelativeResize="0"/>
          <p:nvPr/>
        </p:nvPicPr>
        <p:blipFill rotWithShape="1">
          <a:blip r:embed="rId3">
            <a:alphaModFix/>
          </a:blip>
          <a:srcRect/>
          <a:stretch/>
        </p:blipFill>
        <p:spPr>
          <a:xfrm>
            <a:off x="7847550" y="308215"/>
            <a:ext cx="954600" cy="954600"/>
          </a:xfrm>
          <a:prstGeom prst="rect">
            <a:avLst/>
          </a:prstGeom>
          <a:noFill/>
          <a:ln>
            <a:noFill/>
          </a:ln>
        </p:spPr>
      </p:pic>
      <p:sp>
        <p:nvSpPr>
          <p:cNvPr id="159" name="Google Shape;159;p4"/>
          <p:cNvSpPr txBox="1"/>
          <p:nvPr/>
        </p:nvSpPr>
        <p:spPr>
          <a:xfrm>
            <a:off x="559006" y="1340406"/>
            <a:ext cx="3720000" cy="289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i="0" u="none" strike="noStrike" cap="none" dirty="0">
                <a:solidFill>
                  <a:srgbClr val="000000"/>
                </a:solidFill>
                <a:latin typeface="Nunito Medium"/>
                <a:ea typeface="Nunito Medium"/>
                <a:cs typeface="Nunito Medium"/>
                <a:sym typeface="Nunito Medium"/>
              </a:rPr>
              <a:t>Texas Department of Insurance:</a:t>
            </a:r>
          </a:p>
          <a:p>
            <a:pPr marL="0" marR="0" lvl="0" indent="0" algn="l" rtl="0">
              <a:lnSpc>
                <a:spcPct val="100000"/>
              </a:lnSpc>
              <a:spcBef>
                <a:spcPts val="0"/>
              </a:spcBef>
              <a:spcAft>
                <a:spcPts val="0"/>
              </a:spcAft>
              <a:buNone/>
            </a:pPr>
            <a:endParaRPr dirty="0">
              <a:latin typeface="Nunito Medium"/>
              <a:ea typeface="Nunito Medium"/>
              <a:cs typeface="Nunito Medium"/>
              <a:sym typeface="Nunito Medium"/>
            </a:endParaRPr>
          </a:p>
          <a:p>
            <a:pPr marL="457200" marR="0" lvl="0" indent="-31750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Regulates Texas insurance providers</a:t>
            </a:r>
            <a:endParaRPr dirty="0">
              <a:latin typeface="Nunito Medium"/>
              <a:ea typeface="Nunito Medium"/>
              <a:cs typeface="Nunito Medium"/>
              <a:sym typeface="Nunito Medium"/>
            </a:endParaRPr>
          </a:p>
          <a:p>
            <a:pPr marL="457200" marR="0" lvl="0" indent="-31750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Collects and stores provider data </a:t>
            </a:r>
            <a:endParaRPr dirty="0">
              <a:latin typeface="Nunito Medium"/>
              <a:ea typeface="Nunito Medium"/>
              <a:cs typeface="Nunito Medium"/>
              <a:sym typeface="Nunito Medium"/>
            </a:endParaRPr>
          </a:p>
          <a:p>
            <a:pPr marL="457200" marR="0" lvl="0" indent="-31750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1,217 employees </a:t>
            </a:r>
            <a:endParaRPr dirty="0">
              <a:latin typeface="Nunito Medium"/>
              <a:ea typeface="Nunito Medium"/>
              <a:cs typeface="Nunito Medium"/>
              <a:sym typeface="Nunito Medium"/>
            </a:endParaRPr>
          </a:p>
          <a:p>
            <a:pPr marL="0" marR="0" lvl="0" indent="0" algn="l" rtl="0">
              <a:lnSpc>
                <a:spcPct val="100000"/>
              </a:lnSpc>
              <a:spcBef>
                <a:spcPts val="0"/>
              </a:spcBef>
              <a:spcAft>
                <a:spcPts val="0"/>
              </a:spcAft>
              <a:buNone/>
            </a:pPr>
            <a:endParaRPr sz="1400" i="0" u="none" strike="noStrike" cap="none" dirty="0">
              <a:solidFill>
                <a:srgbClr val="000000"/>
              </a:solidFill>
              <a:latin typeface="Nunito Medium"/>
              <a:ea typeface="Nunito Medium"/>
              <a:cs typeface="Nunito Medium"/>
              <a:sym typeface="Nunito Medium"/>
            </a:endParaRPr>
          </a:p>
          <a:p>
            <a:pPr marL="0" marR="0" lvl="0" indent="0" algn="l" rtl="0">
              <a:lnSpc>
                <a:spcPct val="100000"/>
              </a:lnSpc>
              <a:spcBef>
                <a:spcPts val="0"/>
              </a:spcBef>
              <a:spcAft>
                <a:spcPts val="0"/>
              </a:spcAft>
              <a:buNone/>
            </a:pPr>
            <a:r>
              <a:rPr lang="en-US" sz="1400" i="0" u="none" strike="noStrike" cap="none" dirty="0">
                <a:solidFill>
                  <a:srgbClr val="000000"/>
                </a:solidFill>
                <a:latin typeface="Nunito Medium"/>
                <a:ea typeface="Nunito Medium"/>
                <a:cs typeface="Nunito Medium"/>
                <a:sym typeface="Nunito Medium"/>
              </a:rPr>
              <a:t>Unintended data disclosure from March 2019 until January 2022: </a:t>
            </a:r>
          </a:p>
          <a:p>
            <a:pPr marL="0" marR="0" lvl="0" indent="0" algn="l" rtl="0">
              <a:lnSpc>
                <a:spcPct val="100000"/>
              </a:lnSpc>
              <a:spcBef>
                <a:spcPts val="0"/>
              </a:spcBef>
              <a:spcAft>
                <a:spcPts val="0"/>
              </a:spcAft>
              <a:buNone/>
            </a:pPr>
            <a:endParaRPr dirty="0">
              <a:latin typeface="Nunito Medium"/>
              <a:ea typeface="Nunito Medium"/>
              <a:cs typeface="Nunito Medium"/>
              <a:sym typeface="Nunito Medium"/>
            </a:endParaRPr>
          </a:p>
          <a:p>
            <a:pPr marL="285750" marR="0" lvl="0" indent="-28575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1.8 million individual records  </a:t>
            </a:r>
            <a:endParaRPr dirty="0">
              <a:latin typeface="Nunito Medium"/>
              <a:ea typeface="Nunito Medium"/>
              <a:cs typeface="Nunito Medium"/>
              <a:sym typeface="Nunito Medium"/>
            </a:endParaRPr>
          </a:p>
          <a:p>
            <a:pPr marL="285750" marR="0" lvl="0" indent="-28575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PII and PHI disclosed  </a:t>
            </a:r>
            <a:endParaRPr dirty="0">
              <a:latin typeface="Nunito Medium"/>
              <a:ea typeface="Nunito Medium"/>
              <a:cs typeface="Nunito Medium"/>
              <a:sym typeface="Nunito Medium"/>
            </a:endParaRPr>
          </a:p>
          <a:p>
            <a:pPr marL="285750" marR="0" lvl="0" indent="-28575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Coding error </a:t>
            </a:r>
            <a:endParaRPr dirty="0">
              <a:latin typeface="Nunito Medium"/>
              <a:ea typeface="Nunito Medium"/>
              <a:cs typeface="Nunito Medium"/>
              <a:sym typeface="Nunito Medium"/>
            </a:endParaRPr>
          </a:p>
          <a:p>
            <a:pPr marL="285750" marR="0" lvl="0" indent="-285750" algn="l" rtl="0">
              <a:lnSpc>
                <a:spcPct val="100000"/>
              </a:lnSpc>
              <a:spcBef>
                <a:spcPts val="0"/>
              </a:spcBef>
              <a:spcAft>
                <a:spcPts val="0"/>
              </a:spcAft>
              <a:buClr>
                <a:srgbClr val="000000"/>
              </a:buClr>
              <a:buSzPts val="1400"/>
              <a:buFont typeface="Nunito Medium"/>
              <a:buChar char="➢"/>
            </a:pPr>
            <a:r>
              <a:rPr lang="en-US" sz="1400" i="0" u="none" strike="noStrike" cap="none" dirty="0">
                <a:solidFill>
                  <a:srgbClr val="000000"/>
                </a:solidFill>
                <a:latin typeface="Nunito Medium"/>
                <a:ea typeface="Nunito Medium"/>
                <a:cs typeface="Nunito Medium"/>
                <a:sym typeface="Nunito Medium"/>
              </a:rPr>
              <a:t>Omitted audit details </a:t>
            </a:r>
            <a:endParaRPr sz="1400" i="0" u="none" strike="noStrike" cap="none" dirty="0">
              <a:solidFill>
                <a:srgbClr val="000000"/>
              </a:solidFill>
              <a:latin typeface="Nunito Medium"/>
              <a:ea typeface="Nunito Medium"/>
              <a:cs typeface="Nunito Medium"/>
              <a:sym typeface="Nunito Medium"/>
            </a:endParaRPr>
          </a:p>
        </p:txBody>
      </p:sp>
      <p:sp>
        <p:nvSpPr>
          <p:cNvPr id="160" name="Google Shape;160;p4"/>
          <p:cNvSpPr txBox="1"/>
          <p:nvPr/>
        </p:nvSpPr>
        <p:spPr>
          <a:xfrm>
            <a:off x="4875766" y="1388176"/>
            <a:ext cx="3224400" cy="26776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i="0" u="none" strike="noStrike" cap="none" dirty="0">
                <a:solidFill>
                  <a:srgbClr val="000000"/>
                </a:solidFill>
                <a:latin typeface="Nunito Medium"/>
                <a:ea typeface="Nunito Medium"/>
                <a:cs typeface="Nunito Medium"/>
                <a:sym typeface="Nunito Medium"/>
              </a:rPr>
              <a:t>Control recommendations: </a:t>
            </a:r>
          </a:p>
          <a:p>
            <a:pPr marL="0" marR="0" lvl="0" indent="0" algn="l" rtl="0">
              <a:lnSpc>
                <a:spcPct val="100000"/>
              </a:lnSpc>
              <a:spcBef>
                <a:spcPts val="0"/>
              </a:spcBef>
              <a:spcAft>
                <a:spcPts val="0"/>
              </a:spcAft>
              <a:buNone/>
            </a:pPr>
            <a:endParaRPr dirty="0">
              <a:latin typeface="Nunito Medium"/>
              <a:ea typeface="Nunito Medium"/>
              <a:cs typeface="Nunito Medium"/>
              <a:sym typeface="Nunito Medium"/>
            </a:endParaRPr>
          </a:p>
          <a:p>
            <a:pPr marL="285750" marR="0" lvl="0" indent="-269875" algn="l" rtl="0">
              <a:lnSpc>
                <a:spcPct val="100000"/>
              </a:lnSpc>
              <a:spcBef>
                <a:spcPts val="0"/>
              </a:spcBef>
              <a:spcAft>
                <a:spcPts val="0"/>
              </a:spcAft>
              <a:buClr>
                <a:srgbClr val="000000"/>
              </a:buClr>
              <a:buSzPts val="1400"/>
              <a:buFont typeface="Nunito Medium"/>
              <a:buChar char="➢"/>
            </a:pPr>
            <a:r>
              <a:rPr lang="en-US" i="0" u="none" strike="noStrike" cap="none" dirty="0">
                <a:solidFill>
                  <a:srgbClr val="000000"/>
                </a:solidFill>
                <a:latin typeface="Nunito Medium"/>
                <a:ea typeface="Nunito Medium"/>
                <a:cs typeface="Nunito Medium"/>
                <a:sym typeface="Nunito Medium"/>
              </a:rPr>
              <a:t>Network segmentation(DMZ)</a:t>
            </a:r>
            <a:endParaRPr dirty="0">
              <a:latin typeface="Nunito Medium"/>
              <a:ea typeface="Nunito Medium"/>
              <a:cs typeface="Nunito Medium"/>
              <a:sym typeface="Nunito Medium"/>
            </a:endParaRPr>
          </a:p>
          <a:p>
            <a:pPr marL="285750" marR="0" lvl="0" indent="-269875" algn="l" rtl="0">
              <a:lnSpc>
                <a:spcPct val="100000"/>
              </a:lnSpc>
              <a:spcBef>
                <a:spcPts val="0"/>
              </a:spcBef>
              <a:spcAft>
                <a:spcPts val="0"/>
              </a:spcAft>
              <a:buClr>
                <a:srgbClr val="000000"/>
              </a:buClr>
              <a:buSzPts val="1400"/>
              <a:buFont typeface="Nunito Medium"/>
              <a:buChar char="➢"/>
            </a:pPr>
            <a:r>
              <a:rPr lang="en-US" i="0" u="none" strike="noStrike" cap="none" dirty="0">
                <a:solidFill>
                  <a:srgbClr val="000000"/>
                </a:solidFill>
                <a:latin typeface="Nunito Medium"/>
                <a:ea typeface="Nunito Medium"/>
                <a:cs typeface="Nunito Medium"/>
                <a:sym typeface="Nunito Medium"/>
              </a:rPr>
              <a:t>Pen testing </a:t>
            </a:r>
            <a:endParaRPr dirty="0">
              <a:latin typeface="Nunito Medium"/>
              <a:ea typeface="Nunito Medium"/>
              <a:cs typeface="Nunito Medium"/>
              <a:sym typeface="Nunito Medium"/>
            </a:endParaRPr>
          </a:p>
          <a:p>
            <a:pPr marL="285750" marR="0" lvl="0" indent="-269875" algn="l" rtl="0">
              <a:lnSpc>
                <a:spcPct val="100000"/>
              </a:lnSpc>
              <a:spcBef>
                <a:spcPts val="0"/>
              </a:spcBef>
              <a:spcAft>
                <a:spcPts val="0"/>
              </a:spcAft>
              <a:buClr>
                <a:srgbClr val="000000"/>
              </a:buClr>
              <a:buSzPts val="1400"/>
              <a:buFont typeface="Nunito Medium"/>
              <a:buChar char="➢"/>
            </a:pPr>
            <a:r>
              <a:rPr lang="en-US" i="0" u="none" strike="noStrike" cap="none" dirty="0">
                <a:solidFill>
                  <a:srgbClr val="000000"/>
                </a:solidFill>
                <a:latin typeface="Nunito Medium"/>
                <a:ea typeface="Nunito Medium"/>
                <a:cs typeface="Nunito Medium"/>
                <a:sym typeface="Nunito Medium"/>
              </a:rPr>
              <a:t>Access controls </a:t>
            </a:r>
            <a:endParaRPr dirty="0">
              <a:latin typeface="Nunito Medium"/>
              <a:ea typeface="Nunito Medium"/>
              <a:cs typeface="Nunito Medium"/>
              <a:sym typeface="Nunito Medium"/>
            </a:endParaRPr>
          </a:p>
          <a:p>
            <a:pPr marL="285750" marR="0" lvl="0" indent="-269875" algn="l" rtl="0">
              <a:lnSpc>
                <a:spcPct val="100000"/>
              </a:lnSpc>
              <a:spcBef>
                <a:spcPts val="0"/>
              </a:spcBef>
              <a:spcAft>
                <a:spcPts val="0"/>
              </a:spcAft>
              <a:buClr>
                <a:srgbClr val="000000"/>
              </a:buClr>
              <a:buSzPts val="1400"/>
              <a:buFont typeface="Nunito Medium"/>
              <a:buChar char="➢"/>
            </a:pPr>
            <a:r>
              <a:rPr lang="en-US" i="0" u="none" strike="noStrike" cap="none" dirty="0">
                <a:solidFill>
                  <a:srgbClr val="000000"/>
                </a:solidFill>
                <a:latin typeface="Nunito Medium"/>
                <a:ea typeface="Nunito Medium"/>
                <a:cs typeface="Nunito Medium"/>
                <a:sym typeface="Nunito Medium"/>
              </a:rPr>
              <a:t>Data encryption </a:t>
            </a:r>
            <a:endParaRPr dirty="0">
              <a:latin typeface="Nunito Medium"/>
              <a:ea typeface="Nunito Medium"/>
              <a:cs typeface="Nunito Medium"/>
              <a:sym typeface="Nunito Medium"/>
            </a:endParaRPr>
          </a:p>
          <a:p>
            <a:pPr marL="285750" marR="0" lvl="0" indent="-180975" algn="l" rtl="0">
              <a:lnSpc>
                <a:spcPct val="100000"/>
              </a:lnSpc>
              <a:spcBef>
                <a:spcPts val="0"/>
              </a:spcBef>
              <a:spcAft>
                <a:spcPts val="0"/>
              </a:spcAft>
              <a:buClr>
                <a:srgbClr val="000000"/>
              </a:buClr>
              <a:buSzPts val="1650"/>
              <a:buFont typeface="Arial"/>
              <a:buNone/>
            </a:pPr>
            <a:endParaRPr i="0" u="none" strike="noStrike" cap="none" dirty="0">
              <a:solidFill>
                <a:srgbClr val="000000"/>
              </a:solidFill>
              <a:latin typeface="Nunito Medium"/>
              <a:ea typeface="Nunito Medium"/>
              <a:cs typeface="Nunito Medium"/>
              <a:sym typeface="Nunito Medium"/>
            </a:endParaRPr>
          </a:p>
          <a:p>
            <a:pPr marL="0" marR="0" lvl="0" indent="0" algn="l" rtl="0">
              <a:lnSpc>
                <a:spcPct val="100000"/>
              </a:lnSpc>
              <a:spcBef>
                <a:spcPts val="0"/>
              </a:spcBef>
              <a:spcAft>
                <a:spcPts val="0"/>
              </a:spcAft>
              <a:buNone/>
            </a:pPr>
            <a:r>
              <a:rPr lang="en-US" i="0" u="none" strike="noStrike" cap="none" dirty="0">
                <a:solidFill>
                  <a:srgbClr val="000000"/>
                </a:solidFill>
                <a:latin typeface="Nunito Medium"/>
                <a:ea typeface="Nunito Medium"/>
                <a:cs typeface="Nunito Medium"/>
                <a:sym typeface="Nunito Medium"/>
              </a:rPr>
              <a:t>Cybersecurity expert Steve Prairie’s recommendations: </a:t>
            </a:r>
          </a:p>
          <a:p>
            <a:pPr marL="0" marR="0" lvl="0" indent="0" algn="l" rtl="0">
              <a:lnSpc>
                <a:spcPct val="100000"/>
              </a:lnSpc>
              <a:spcBef>
                <a:spcPts val="0"/>
              </a:spcBef>
              <a:spcAft>
                <a:spcPts val="0"/>
              </a:spcAft>
              <a:buNone/>
            </a:pPr>
            <a:endParaRPr dirty="0">
              <a:latin typeface="Nunito Medium"/>
              <a:ea typeface="Nunito Medium"/>
              <a:cs typeface="Nunito Medium"/>
              <a:sym typeface="Nunito Medium"/>
            </a:endParaRPr>
          </a:p>
          <a:p>
            <a:pPr marL="285750" marR="0" lvl="0" indent="-269875" algn="l" rtl="0">
              <a:lnSpc>
                <a:spcPct val="100000"/>
              </a:lnSpc>
              <a:spcBef>
                <a:spcPts val="0"/>
              </a:spcBef>
              <a:spcAft>
                <a:spcPts val="0"/>
              </a:spcAft>
              <a:buClr>
                <a:srgbClr val="000000"/>
              </a:buClr>
              <a:buSzPts val="1400"/>
              <a:buFont typeface="Nunito Medium"/>
              <a:buChar char="➢"/>
            </a:pPr>
            <a:r>
              <a:rPr lang="en-US" i="0" u="none" strike="noStrike" cap="none" dirty="0">
                <a:solidFill>
                  <a:srgbClr val="000000"/>
                </a:solidFill>
                <a:latin typeface="Nunito Medium"/>
                <a:ea typeface="Nunito Medium"/>
                <a:cs typeface="Nunito Medium"/>
                <a:sym typeface="Nunito Medium"/>
              </a:rPr>
              <a:t>Web application firewall </a:t>
            </a:r>
            <a:endParaRPr dirty="0">
              <a:latin typeface="Nunito Medium"/>
              <a:ea typeface="Nunito Medium"/>
              <a:cs typeface="Nunito Medium"/>
              <a:sym typeface="Nunito Medium"/>
            </a:endParaRPr>
          </a:p>
          <a:p>
            <a:pPr marL="0" marR="0" lvl="0" indent="0" algn="l" rtl="0">
              <a:lnSpc>
                <a:spcPct val="100000"/>
              </a:lnSpc>
              <a:spcBef>
                <a:spcPts val="0"/>
              </a:spcBef>
              <a:spcAft>
                <a:spcPts val="0"/>
              </a:spcAft>
              <a:buNone/>
            </a:pPr>
            <a:r>
              <a:rPr lang="en-US" i="0" u="none" strike="noStrike" cap="none" dirty="0">
                <a:solidFill>
                  <a:schemeClr val="accent5"/>
                </a:solidFill>
                <a:latin typeface="Nunito Medium"/>
                <a:ea typeface="Nunito Medium"/>
                <a:cs typeface="Nunito Medium"/>
                <a:sym typeface="Nunito Medium"/>
              </a:rPr>
              <a:t>	</a:t>
            </a:r>
            <a:endParaRPr dirty="0">
              <a:latin typeface="Nunito Medium"/>
              <a:ea typeface="Nunito Medium"/>
              <a:cs typeface="Nunito Medium"/>
              <a:sym typeface="Nunito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58"/>
                                        </p:tgtEl>
                                        <p:attrNameLst>
                                          <p:attrName>style.visibility</p:attrName>
                                        </p:attrNameLst>
                                      </p:cBhvr>
                                      <p:to>
                                        <p:strVal val="visible"/>
                                      </p:to>
                                    </p:set>
                                    <p:anim calcmode="lin" valueType="num">
                                      <p:cBhvr additive="base">
                                        <p:cTn id="7" dur="500"/>
                                        <p:tgtEl>
                                          <p:spTgt spid="1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5"/>
          <p:cNvPicPr preferRelativeResize="0"/>
          <p:nvPr/>
        </p:nvPicPr>
        <p:blipFill rotWithShape="1">
          <a:blip r:embed="rId3">
            <a:alphaModFix/>
          </a:blip>
          <a:srcRect/>
          <a:stretch/>
        </p:blipFill>
        <p:spPr>
          <a:xfrm>
            <a:off x="7206817" y="219862"/>
            <a:ext cx="1734249" cy="664796"/>
          </a:xfrm>
          <a:prstGeom prst="rect">
            <a:avLst/>
          </a:prstGeom>
          <a:noFill/>
          <a:ln>
            <a:noFill/>
          </a:ln>
        </p:spPr>
      </p:pic>
      <p:sp>
        <p:nvSpPr>
          <p:cNvPr id="166" name="Google Shape;166;p5"/>
          <p:cNvSpPr txBox="1">
            <a:spLocks noGrp="1"/>
          </p:cNvSpPr>
          <p:nvPr>
            <p:ph type="title"/>
          </p:nvPr>
        </p:nvSpPr>
        <p:spPr>
          <a:xfrm>
            <a:off x="568241" y="652652"/>
            <a:ext cx="7505700" cy="954600"/>
          </a:xfrm>
          <a:prstGeom prst="rect">
            <a:avLst/>
          </a:prstGeom>
          <a:noFill/>
          <a:ln>
            <a:noFill/>
          </a:ln>
        </p:spPr>
        <p:txBody>
          <a:bodyPr spcFirstLastPara="1" wrap="square" lIns="91425" tIns="91425" rIns="91425" bIns="91425" anchor="t" anchorCtr="0">
            <a:normAutofit/>
          </a:bodyPr>
          <a:lstStyle/>
          <a:p>
            <a:pPr marL="0" lvl="0" indent="0" algn="ctr" rtl="0">
              <a:lnSpc>
                <a:spcPct val="107000"/>
              </a:lnSpc>
              <a:spcBef>
                <a:spcPts val="0"/>
              </a:spcBef>
              <a:spcAft>
                <a:spcPts val="800"/>
              </a:spcAft>
              <a:buSzPts val="3000"/>
              <a:buNone/>
            </a:pPr>
            <a:r>
              <a:rPr lang="en-US" sz="3200" b="1">
                <a:latin typeface="Nunito"/>
                <a:ea typeface="Nunito"/>
                <a:cs typeface="Nunito"/>
                <a:sym typeface="Nunito"/>
              </a:rPr>
              <a:t>Elliott Greenleaf Law Firm Data Theft </a:t>
            </a:r>
            <a:endParaRPr sz="3200">
              <a:latin typeface="Nunito"/>
              <a:ea typeface="Nunito"/>
              <a:cs typeface="Nunito"/>
              <a:sym typeface="Nunito"/>
            </a:endParaRPr>
          </a:p>
        </p:txBody>
      </p:sp>
      <p:sp>
        <p:nvSpPr>
          <p:cNvPr id="167" name="Google Shape;167;p5"/>
          <p:cNvSpPr txBox="1">
            <a:spLocks noGrp="1"/>
          </p:cNvSpPr>
          <p:nvPr>
            <p:ph type="body" idx="1"/>
          </p:nvPr>
        </p:nvSpPr>
        <p:spPr>
          <a:xfrm>
            <a:off x="568240" y="1288040"/>
            <a:ext cx="3803744" cy="2420462"/>
          </a:xfrm>
          <a:prstGeom prst="rect">
            <a:avLst/>
          </a:prstGeom>
          <a:noFill/>
          <a:ln>
            <a:noFill/>
          </a:ln>
        </p:spPr>
        <p:txBody>
          <a:bodyPr spcFirstLastPara="1" wrap="square" lIns="91425" tIns="91425" rIns="91425" bIns="91425" anchor="t" anchorCtr="0">
            <a:noAutofit/>
          </a:bodyPr>
          <a:lstStyle/>
          <a:p>
            <a:pPr marL="146050" lvl="0" indent="0" algn="l" rtl="0">
              <a:lnSpc>
                <a:spcPct val="115000"/>
              </a:lnSpc>
              <a:spcBef>
                <a:spcPts val="0"/>
              </a:spcBef>
              <a:spcAft>
                <a:spcPts val="0"/>
              </a:spcAft>
              <a:buSzPts val="1405"/>
              <a:buNone/>
            </a:pPr>
            <a:r>
              <a:rPr lang="en-US" sz="1400" dirty="0">
                <a:solidFill>
                  <a:schemeClr val="tx2">
                    <a:lumMod val="10000"/>
                  </a:schemeClr>
                </a:solidFill>
                <a:latin typeface="Nunito Medium" panose="020B0604020202020204" charset="0"/>
                <a:ea typeface="Arial"/>
                <a:cs typeface="Arial"/>
                <a:sym typeface="Arial"/>
              </a:rPr>
              <a:t>Elliott Greenleaf Law Firm:</a:t>
            </a:r>
          </a:p>
          <a:p>
            <a:pPr marL="146050" lvl="0" indent="0" algn="l" rtl="0">
              <a:lnSpc>
                <a:spcPct val="115000"/>
              </a:lnSpc>
              <a:spcBef>
                <a:spcPts val="0"/>
              </a:spcBef>
              <a:spcAft>
                <a:spcPts val="0"/>
              </a:spcAft>
              <a:buSzPts val="1405"/>
              <a:buNone/>
            </a:pPr>
            <a:endParaRPr sz="1400" dirty="0">
              <a:solidFill>
                <a:schemeClr val="tx2">
                  <a:lumMod val="10000"/>
                </a:schemeClr>
              </a:solidFill>
              <a:latin typeface="Nunito Medium" panose="020B0604020202020204" charset="0"/>
            </a:endParaRPr>
          </a:p>
          <a:p>
            <a:pPr marL="457200" lvl="0" indent="-317500" algn="l" rtl="0">
              <a:lnSpc>
                <a:spcPct val="115000"/>
              </a:lnSpc>
              <a:spcBef>
                <a:spcPts val="0"/>
              </a:spcBef>
              <a:spcAft>
                <a:spcPts val="0"/>
              </a:spcAft>
              <a:buSzPts val="1400"/>
              <a:buFont typeface="Arial"/>
              <a:buChar char="➢"/>
            </a:pPr>
            <a:r>
              <a:rPr lang="en-US" sz="1400" dirty="0">
                <a:solidFill>
                  <a:schemeClr val="tx2">
                    <a:lumMod val="10000"/>
                  </a:schemeClr>
                </a:solidFill>
                <a:latin typeface="Nunito Medium" panose="020B0604020202020204" charset="0"/>
                <a:ea typeface="Arial"/>
                <a:cs typeface="Arial"/>
                <a:sym typeface="Arial"/>
              </a:rPr>
              <a:t>55 attorneys </a:t>
            </a:r>
            <a:endParaRPr sz="1400" dirty="0">
              <a:solidFill>
                <a:schemeClr val="tx2">
                  <a:lumMod val="10000"/>
                </a:schemeClr>
              </a:solidFill>
              <a:latin typeface="Nunito Medium" panose="020B0604020202020204" charset="0"/>
            </a:endParaRPr>
          </a:p>
          <a:p>
            <a:pPr marL="457200" lvl="0" indent="-317500" algn="l" rtl="0">
              <a:lnSpc>
                <a:spcPct val="115000"/>
              </a:lnSpc>
              <a:spcBef>
                <a:spcPts val="0"/>
              </a:spcBef>
              <a:spcAft>
                <a:spcPts val="0"/>
              </a:spcAft>
              <a:buSzPts val="1400"/>
              <a:buFont typeface="Arial"/>
              <a:buChar char="➢"/>
            </a:pPr>
            <a:r>
              <a:rPr lang="en-US" sz="1400" dirty="0">
                <a:solidFill>
                  <a:schemeClr val="tx2">
                    <a:lumMod val="10000"/>
                  </a:schemeClr>
                </a:solidFill>
                <a:latin typeface="Nunito Medium" panose="020B0604020202020204" charset="0"/>
                <a:ea typeface="Arial"/>
                <a:cs typeface="Arial"/>
                <a:sym typeface="Arial"/>
              </a:rPr>
              <a:t>Multiple locations </a:t>
            </a:r>
            <a:endParaRPr sz="1400" dirty="0">
              <a:solidFill>
                <a:schemeClr val="tx2">
                  <a:lumMod val="10000"/>
                </a:schemeClr>
              </a:solidFill>
              <a:latin typeface="Nunito Medium" panose="020B0604020202020204" charset="0"/>
            </a:endParaRPr>
          </a:p>
          <a:p>
            <a:pPr marL="457200" lvl="0" indent="-228600" algn="l" rtl="0">
              <a:lnSpc>
                <a:spcPct val="115000"/>
              </a:lnSpc>
              <a:spcBef>
                <a:spcPts val="0"/>
              </a:spcBef>
              <a:spcAft>
                <a:spcPts val="0"/>
              </a:spcAft>
              <a:buSzPts val="1405"/>
              <a:buNone/>
            </a:pPr>
            <a:endParaRPr sz="1400" dirty="0">
              <a:solidFill>
                <a:schemeClr val="tx2">
                  <a:lumMod val="10000"/>
                </a:schemeClr>
              </a:solidFill>
              <a:latin typeface="Nunito Medium" panose="020B0604020202020204" charset="0"/>
              <a:ea typeface="Arial"/>
              <a:cs typeface="Arial"/>
              <a:sym typeface="Arial"/>
            </a:endParaRPr>
          </a:p>
          <a:p>
            <a:pPr marL="146050" lvl="0" indent="0" algn="l" rtl="0">
              <a:lnSpc>
                <a:spcPct val="115000"/>
              </a:lnSpc>
              <a:spcBef>
                <a:spcPts val="0"/>
              </a:spcBef>
              <a:spcAft>
                <a:spcPts val="0"/>
              </a:spcAft>
              <a:buSzPts val="1405"/>
              <a:buNone/>
            </a:pPr>
            <a:r>
              <a:rPr lang="en-US" sz="1400" dirty="0">
                <a:solidFill>
                  <a:schemeClr val="tx2">
                    <a:lumMod val="10000"/>
                  </a:schemeClr>
                </a:solidFill>
                <a:latin typeface="Nunito Medium" panose="020B0604020202020204" charset="0"/>
                <a:ea typeface="Arial"/>
                <a:cs typeface="Arial"/>
                <a:sym typeface="Arial"/>
              </a:rPr>
              <a:t>Data theft from November to December 2021: </a:t>
            </a:r>
          </a:p>
          <a:p>
            <a:pPr marL="146050" lvl="0" indent="0" algn="l" rtl="0">
              <a:lnSpc>
                <a:spcPct val="115000"/>
              </a:lnSpc>
              <a:spcBef>
                <a:spcPts val="0"/>
              </a:spcBef>
              <a:spcAft>
                <a:spcPts val="0"/>
              </a:spcAft>
              <a:buSzPts val="1405"/>
              <a:buNone/>
            </a:pPr>
            <a:endParaRPr sz="1400" dirty="0">
              <a:solidFill>
                <a:schemeClr val="tx2">
                  <a:lumMod val="10000"/>
                </a:schemeClr>
              </a:solidFill>
              <a:latin typeface="Nunito Medium" panose="020B0604020202020204" charset="0"/>
            </a:endParaRPr>
          </a:p>
          <a:p>
            <a:pPr marL="457200" lvl="0" indent="-317500" algn="l" rtl="0">
              <a:lnSpc>
                <a:spcPct val="115000"/>
              </a:lnSpc>
              <a:spcBef>
                <a:spcPts val="0"/>
              </a:spcBef>
              <a:spcAft>
                <a:spcPts val="0"/>
              </a:spcAft>
              <a:buSzPts val="1400"/>
              <a:buFont typeface="Arial"/>
              <a:buChar char="➢"/>
            </a:pPr>
            <a:r>
              <a:rPr lang="en-US" sz="1400" dirty="0">
                <a:solidFill>
                  <a:schemeClr val="tx2">
                    <a:lumMod val="10000"/>
                  </a:schemeClr>
                </a:solidFill>
                <a:latin typeface="Nunito Medium" panose="020B0604020202020204" charset="0"/>
                <a:ea typeface="Arial"/>
                <a:cs typeface="Arial"/>
                <a:sym typeface="Arial"/>
              </a:rPr>
              <a:t>Entire office resigns</a:t>
            </a:r>
            <a:endParaRPr sz="1400" dirty="0">
              <a:solidFill>
                <a:schemeClr val="tx2">
                  <a:lumMod val="10000"/>
                </a:schemeClr>
              </a:solidFill>
              <a:latin typeface="Nunito Medium" panose="020B0604020202020204" charset="0"/>
            </a:endParaRPr>
          </a:p>
          <a:p>
            <a:pPr marL="457200" lvl="0" indent="-317500" algn="l" rtl="0">
              <a:lnSpc>
                <a:spcPct val="115000"/>
              </a:lnSpc>
              <a:spcBef>
                <a:spcPts val="0"/>
              </a:spcBef>
              <a:spcAft>
                <a:spcPts val="0"/>
              </a:spcAft>
              <a:buSzPts val="1400"/>
              <a:buFont typeface="Arial"/>
              <a:buChar char="➢"/>
            </a:pPr>
            <a:r>
              <a:rPr lang="en-US" sz="1400" dirty="0">
                <a:solidFill>
                  <a:schemeClr val="tx2">
                    <a:lumMod val="10000"/>
                  </a:schemeClr>
                </a:solidFill>
                <a:latin typeface="Nunito Medium" panose="020B0604020202020204" charset="0"/>
                <a:ea typeface="Arial"/>
                <a:cs typeface="Arial"/>
                <a:sym typeface="Arial"/>
              </a:rPr>
              <a:t>Client and case data stolen </a:t>
            </a:r>
            <a:endParaRPr sz="1400" dirty="0">
              <a:solidFill>
                <a:schemeClr val="tx2">
                  <a:lumMod val="10000"/>
                </a:schemeClr>
              </a:solidFill>
              <a:latin typeface="Nunito Medium" panose="020B0604020202020204" charset="0"/>
            </a:endParaRPr>
          </a:p>
          <a:p>
            <a:pPr marL="457200" lvl="0" indent="-317500" algn="l" rtl="0">
              <a:lnSpc>
                <a:spcPct val="115000"/>
              </a:lnSpc>
              <a:spcBef>
                <a:spcPts val="0"/>
              </a:spcBef>
              <a:spcAft>
                <a:spcPts val="0"/>
              </a:spcAft>
              <a:buSzPts val="1400"/>
              <a:buFont typeface="Arial"/>
              <a:buChar char="➢"/>
            </a:pPr>
            <a:r>
              <a:rPr lang="en-US" sz="1400" dirty="0">
                <a:solidFill>
                  <a:schemeClr val="tx2">
                    <a:lumMod val="10000"/>
                  </a:schemeClr>
                </a:solidFill>
                <a:latin typeface="Nunito Medium" panose="020B0604020202020204" charset="0"/>
                <a:ea typeface="Arial"/>
                <a:cs typeface="Arial"/>
                <a:sym typeface="Arial"/>
              </a:rPr>
              <a:t>288 pounds of documents shredded </a:t>
            </a:r>
            <a:endParaRPr sz="1400" dirty="0">
              <a:solidFill>
                <a:schemeClr val="tx2">
                  <a:lumMod val="10000"/>
                </a:schemeClr>
              </a:solidFill>
              <a:latin typeface="Nunito Medium" panose="020B0604020202020204" charset="0"/>
            </a:endParaRPr>
          </a:p>
          <a:p>
            <a:pPr marL="457200" lvl="0" indent="-317500" algn="l" rtl="0">
              <a:lnSpc>
                <a:spcPct val="115000"/>
              </a:lnSpc>
              <a:spcBef>
                <a:spcPts val="0"/>
              </a:spcBef>
              <a:spcAft>
                <a:spcPts val="0"/>
              </a:spcAft>
              <a:buSzPts val="1400"/>
              <a:buFont typeface="Arial"/>
              <a:buChar char="➢"/>
            </a:pPr>
            <a:r>
              <a:rPr lang="en-US" sz="1400" dirty="0">
                <a:solidFill>
                  <a:schemeClr val="tx2">
                    <a:lumMod val="10000"/>
                  </a:schemeClr>
                </a:solidFill>
                <a:latin typeface="Nunito Medium" panose="020B0604020202020204" charset="0"/>
                <a:ea typeface="Arial"/>
                <a:cs typeface="Arial"/>
                <a:sym typeface="Arial"/>
              </a:rPr>
              <a:t>Google Drive and Apple iCloud </a:t>
            </a:r>
            <a:endParaRPr sz="1400" dirty="0">
              <a:solidFill>
                <a:schemeClr val="tx2">
                  <a:lumMod val="10000"/>
                </a:schemeClr>
              </a:solidFill>
              <a:latin typeface="Nunito Medium" panose="020B0604020202020204" charset="0"/>
            </a:endParaRPr>
          </a:p>
          <a:p>
            <a:pPr marL="0" lvl="0" indent="0" algn="l" rtl="0">
              <a:lnSpc>
                <a:spcPct val="115000"/>
              </a:lnSpc>
              <a:spcBef>
                <a:spcPts val="0"/>
              </a:spcBef>
              <a:spcAft>
                <a:spcPts val="1200"/>
              </a:spcAft>
              <a:buSzPts val="1405"/>
              <a:buNone/>
            </a:pPr>
            <a:endParaRPr sz="1400" dirty="0">
              <a:latin typeface="Nunito Medium" panose="020B0604020202020204" charset="0"/>
            </a:endParaRPr>
          </a:p>
        </p:txBody>
      </p:sp>
      <p:sp>
        <p:nvSpPr>
          <p:cNvPr id="168" name="Google Shape;168;p5"/>
          <p:cNvSpPr txBox="1"/>
          <p:nvPr/>
        </p:nvSpPr>
        <p:spPr>
          <a:xfrm>
            <a:off x="4772017" y="1361519"/>
            <a:ext cx="3759600" cy="289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Nunito Medium" panose="020B0604020202020204" charset="0"/>
                <a:sym typeface="Arial"/>
              </a:rPr>
              <a:t>Control recommendations: </a:t>
            </a:r>
          </a:p>
          <a:p>
            <a:pPr marL="0" marR="0" lvl="0" indent="0" algn="l" rtl="0">
              <a:lnSpc>
                <a:spcPct val="100000"/>
              </a:lnSpc>
              <a:spcBef>
                <a:spcPts val="0"/>
              </a:spcBef>
              <a:spcAft>
                <a:spcPts val="0"/>
              </a:spcAft>
              <a:buNone/>
            </a:pPr>
            <a:endParaRPr dirty="0">
              <a:latin typeface="Nunito Medium" panose="020B0604020202020204" charset="0"/>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Nunito Medium" panose="020B0604020202020204" charset="0"/>
                <a:sym typeface="Arial"/>
              </a:rPr>
              <a:t>Data extraction monitoring</a:t>
            </a:r>
            <a:endParaRPr dirty="0">
              <a:latin typeface="Nunito Medium" panose="020B0604020202020204" charset="0"/>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Nunito Medium" panose="020B0604020202020204" charset="0"/>
                <a:sym typeface="Arial"/>
              </a:rPr>
              <a:t>Blacklist personal email and cloud</a:t>
            </a:r>
            <a:r>
              <a:rPr lang="en-US" dirty="0">
                <a:latin typeface="Nunito Medium" panose="020B0604020202020204" charset="0"/>
              </a:rPr>
              <a:t> </a:t>
            </a:r>
            <a:r>
              <a:rPr lang="en-US" sz="1400" b="0" i="0" u="none" strike="noStrike" cap="none" dirty="0">
                <a:solidFill>
                  <a:srgbClr val="000000"/>
                </a:solidFill>
                <a:latin typeface="Nunito Medium" panose="020B0604020202020204" charset="0"/>
                <a:sym typeface="Arial"/>
              </a:rPr>
              <a:t>storage access </a:t>
            </a:r>
            <a:endParaRPr dirty="0">
              <a:latin typeface="Nunito Medium" panose="020B0604020202020204" charset="0"/>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Nunito Medium" panose="020B0604020202020204" charset="0"/>
                <a:sym typeface="Arial"/>
              </a:rPr>
              <a:t>Access controls  </a:t>
            </a:r>
            <a:endParaRPr dirty="0">
              <a:latin typeface="Nunito Medium" panose="020B0604020202020204" charset="0"/>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Nunito Medium" panose="020B0604020202020204" charset="0"/>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Nunito Medium" panose="020B0604020202020204" charset="0"/>
                <a:sym typeface="Arial"/>
              </a:rPr>
              <a:t>Cybersecurity expert Steve Prairie’s recommendations: </a:t>
            </a:r>
          </a:p>
          <a:p>
            <a:pPr marL="0" marR="0" lvl="0" indent="0" algn="l" rtl="0">
              <a:lnSpc>
                <a:spcPct val="100000"/>
              </a:lnSpc>
              <a:spcBef>
                <a:spcPts val="0"/>
              </a:spcBef>
              <a:spcAft>
                <a:spcPts val="0"/>
              </a:spcAft>
              <a:buNone/>
            </a:pPr>
            <a:endParaRPr dirty="0">
              <a:latin typeface="Nunito Medium" panose="020B0604020202020204" charset="0"/>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Nunito Medium" panose="020B0604020202020204" charset="0"/>
                <a:sym typeface="Arial"/>
              </a:rPr>
              <a:t>Automate employee monitoring </a:t>
            </a:r>
            <a:endParaRPr dirty="0">
              <a:latin typeface="Nunito Medium" panose="020B0604020202020204" charset="0"/>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dirty="0">
                <a:solidFill>
                  <a:srgbClr val="000000"/>
                </a:solidFill>
                <a:latin typeface="Nunito Medium" panose="020B0604020202020204" charset="0"/>
                <a:sym typeface="Arial"/>
              </a:rPr>
              <a:t>Use technological solutions to alert the abnormal activity</a:t>
            </a:r>
            <a:endParaRPr dirty="0">
              <a:latin typeface="Nunito Medium"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additive="base">
                                        <p:cTn id="7" dur="500"/>
                                        <p:tgtEl>
                                          <p:spTgt spid="1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7"/>
          <p:cNvSpPr txBox="1">
            <a:spLocks noGrp="1"/>
          </p:cNvSpPr>
          <p:nvPr>
            <p:ph type="title"/>
          </p:nvPr>
        </p:nvSpPr>
        <p:spPr>
          <a:xfrm>
            <a:off x="1165144" y="564257"/>
            <a:ext cx="5905500" cy="6975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US" sz="1633" b="1"/>
              <a:t>Target’s $18.5 Million Multi-State Settlement over Data Breach</a:t>
            </a:r>
            <a:r>
              <a:rPr lang="en-US" sz="1333" b="1"/>
              <a:t> </a:t>
            </a:r>
            <a:endParaRPr sz="1333" b="1"/>
          </a:p>
          <a:p>
            <a:pPr marL="0" lvl="0" indent="0" algn="ctr" rtl="0">
              <a:lnSpc>
                <a:spcPct val="100000"/>
              </a:lnSpc>
              <a:spcBef>
                <a:spcPts val="0"/>
              </a:spcBef>
              <a:spcAft>
                <a:spcPts val="0"/>
              </a:spcAft>
              <a:buSzPts val="3000"/>
              <a:buNone/>
            </a:pPr>
            <a:endParaRPr sz="3555"/>
          </a:p>
        </p:txBody>
      </p:sp>
      <p:pic>
        <p:nvPicPr>
          <p:cNvPr id="174" name="Google Shape;174;p7"/>
          <p:cNvPicPr preferRelativeResize="0"/>
          <p:nvPr/>
        </p:nvPicPr>
        <p:blipFill rotWithShape="1">
          <a:blip r:embed="rId3">
            <a:alphaModFix/>
          </a:blip>
          <a:srcRect/>
          <a:stretch/>
        </p:blipFill>
        <p:spPr>
          <a:xfrm>
            <a:off x="7649936" y="279026"/>
            <a:ext cx="1098390" cy="1122999"/>
          </a:xfrm>
          <a:prstGeom prst="rect">
            <a:avLst/>
          </a:prstGeom>
          <a:noFill/>
          <a:ln>
            <a:noFill/>
          </a:ln>
        </p:spPr>
      </p:pic>
      <p:sp>
        <p:nvSpPr>
          <p:cNvPr id="175" name="Google Shape;175;p7"/>
          <p:cNvSpPr txBox="1">
            <a:spLocks noGrp="1"/>
          </p:cNvSpPr>
          <p:nvPr>
            <p:ph type="body" idx="2"/>
          </p:nvPr>
        </p:nvSpPr>
        <p:spPr>
          <a:xfrm>
            <a:off x="4288625" y="1383464"/>
            <a:ext cx="3686100" cy="2448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US" sz="1400" dirty="0">
                <a:solidFill>
                  <a:srgbClr val="000000"/>
                </a:solidFill>
                <a:latin typeface="Nunito Medium"/>
                <a:ea typeface="Nunito Medium"/>
                <a:cs typeface="Nunito Medium"/>
                <a:sym typeface="Nunito Medium"/>
              </a:rPr>
              <a:t>The Director of Cyber Risk at Brink’s Inc, Angel Mosley's recommendations:</a:t>
            </a:r>
            <a:r>
              <a:rPr lang="en-US" sz="1400" dirty="0">
                <a:solidFill>
                  <a:srgbClr val="000000"/>
                </a:solidFill>
              </a:rPr>
              <a:t> </a:t>
            </a:r>
            <a:endParaRPr sz="1400" dirty="0">
              <a:solidFill>
                <a:srgbClr val="000000"/>
              </a:solidFill>
            </a:endParaRPr>
          </a:p>
          <a:p>
            <a:pPr marL="0" lvl="0" indent="0" algn="l" rtl="0">
              <a:lnSpc>
                <a:spcPct val="100000"/>
              </a:lnSpc>
              <a:spcBef>
                <a:spcPts val="0"/>
              </a:spcBef>
              <a:spcAft>
                <a:spcPts val="0"/>
              </a:spcAft>
              <a:buNone/>
            </a:pPr>
            <a:endParaRPr sz="1400" dirty="0">
              <a:solidFill>
                <a:srgbClr val="000000"/>
              </a:solidFill>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rPr>
              <a:t>Implement a comprehensive risk assessment process that use a framework like NIST 800-53</a:t>
            </a:r>
            <a:endParaRPr sz="1400" dirty="0">
              <a:solidFill>
                <a:srgbClr val="000000"/>
              </a:solidFill>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rPr>
              <a:t>Least of Privileges with Third-Party Vendors</a:t>
            </a:r>
            <a:endParaRPr sz="1400" dirty="0">
              <a:solidFill>
                <a:srgbClr val="000000"/>
              </a:solidFill>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rPr>
              <a:t>Network Segmentation</a:t>
            </a:r>
            <a:endParaRPr sz="1400" dirty="0">
              <a:solidFill>
                <a:srgbClr val="000000"/>
              </a:solidFill>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rPr>
              <a:t>PCI-DSS  </a:t>
            </a:r>
            <a:endParaRPr sz="1400" dirty="0">
              <a:solidFill>
                <a:srgbClr val="000000"/>
              </a:solidFill>
            </a:endParaRPr>
          </a:p>
        </p:txBody>
      </p:sp>
      <p:sp>
        <p:nvSpPr>
          <p:cNvPr id="176" name="Google Shape;176;p7"/>
          <p:cNvSpPr txBox="1"/>
          <p:nvPr/>
        </p:nvSpPr>
        <p:spPr>
          <a:xfrm>
            <a:off x="914925" y="1302075"/>
            <a:ext cx="2622900" cy="374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Nunito Medium"/>
                <a:ea typeface="Nunito Medium"/>
                <a:cs typeface="Nunito Medium"/>
                <a:sym typeface="Nunito Medium"/>
              </a:rPr>
              <a:t>Target’s third-party vendor falls victim to phishing attack that led Target’s customers to become victims of sensitive Personal Identifiable Information (PII).</a:t>
            </a:r>
            <a:endParaRPr dirty="0">
              <a:latin typeface="Nunito Medium"/>
              <a:ea typeface="Nunito Medium"/>
              <a:cs typeface="Nunito Medium"/>
              <a:sym typeface="Nunito Medium"/>
            </a:endParaRPr>
          </a:p>
          <a:p>
            <a:pPr marL="0" lvl="0" indent="0" algn="l" rtl="0">
              <a:spcBef>
                <a:spcPts val="0"/>
              </a:spcBef>
              <a:spcAft>
                <a:spcPts val="0"/>
              </a:spcAft>
              <a:buNone/>
            </a:pPr>
            <a:endParaRPr dirty="0">
              <a:latin typeface="Nunito Medium"/>
              <a:ea typeface="Nunito Medium"/>
              <a:cs typeface="Nunito Medium"/>
              <a:sym typeface="Nunito Medium"/>
            </a:endParaRPr>
          </a:p>
          <a:p>
            <a:pPr marL="0" lvl="0" indent="0" algn="l" rtl="0">
              <a:lnSpc>
                <a:spcPct val="115000"/>
              </a:lnSpc>
              <a:spcBef>
                <a:spcPts val="0"/>
              </a:spcBef>
              <a:spcAft>
                <a:spcPts val="0"/>
              </a:spcAft>
              <a:buNone/>
            </a:pPr>
            <a:r>
              <a:rPr lang="en-US" sz="1300" dirty="0">
                <a:latin typeface="Nunito Medium"/>
                <a:ea typeface="Nunito Medium"/>
                <a:cs typeface="Nunito Medium"/>
                <a:sym typeface="Nunito Medium"/>
              </a:rPr>
              <a:t>My control recommendation:</a:t>
            </a:r>
            <a:endParaRPr sz="1300" dirty="0">
              <a:latin typeface="Nunito Medium"/>
              <a:ea typeface="Nunito Medium"/>
              <a:cs typeface="Nunito Medium"/>
              <a:sym typeface="Nunito Medium"/>
            </a:endParaRPr>
          </a:p>
          <a:p>
            <a:pPr marL="457200" lvl="0" indent="-311150" algn="l" rtl="0">
              <a:lnSpc>
                <a:spcPct val="115000"/>
              </a:lnSpc>
              <a:spcBef>
                <a:spcPts val="0"/>
              </a:spcBef>
              <a:spcAft>
                <a:spcPts val="0"/>
              </a:spcAft>
              <a:buSzPts val="1300"/>
              <a:buFont typeface="Nunito Medium"/>
              <a:buChar char="➢"/>
            </a:pPr>
            <a:r>
              <a:rPr lang="en-US" sz="1300" dirty="0">
                <a:latin typeface="Nunito Medium"/>
                <a:ea typeface="Nunito Medium"/>
                <a:cs typeface="Nunito Medium"/>
                <a:sym typeface="Nunito Medium"/>
              </a:rPr>
              <a:t>Risk Management</a:t>
            </a:r>
            <a:endParaRPr sz="1300" dirty="0">
              <a:latin typeface="Nunito Medium"/>
              <a:ea typeface="Nunito Medium"/>
              <a:cs typeface="Nunito Medium"/>
              <a:sym typeface="Nunito Medium"/>
            </a:endParaRPr>
          </a:p>
          <a:p>
            <a:pPr marL="457200" lvl="0" indent="-311150" algn="l" rtl="0">
              <a:lnSpc>
                <a:spcPct val="115000"/>
              </a:lnSpc>
              <a:spcBef>
                <a:spcPts val="0"/>
              </a:spcBef>
              <a:spcAft>
                <a:spcPts val="0"/>
              </a:spcAft>
              <a:buSzPts val="1300"/>
              <a:buFont typeface="Nunito Medium"/>
              <a:buChar char="➢"/>
            </a:pPr>
            <a:r>
              <a:rPr lang="en-US" sz="1300" dirty="0">
                <a:latin typeface="Nunito Medium"/>
                <a:ea typeface="Nunito Medium"/>
                <a:cs typeface="Nunito Medium"/>
                <a:sym typeface="Nunito Medium"/>
              </a:rPr>
              <a:t>PCI DSS Controls</a:t>
            </a:r>
            <a:endParaRPr sz="1300" dirty="0">
              <a:latin typeface="Nunito Medium"/>
              <a:ea typeface="Nunito Medium"/>
              <a:cs typeface="Nunito Medium"/>
              <a:sym typeface="Nunito Medium"/>
            </a:endParaRPr>
          </a:p>
          <a:p>
            <a:pPr marL="457200" lvl="0" indent="-311150" algn="l" rtl="0">
              <a:lnSpc>
                <a:spcPct val="115000"/>
              </a:lnSpc>
              <a:spcBef>
                <a:spcPts val="0"/>
              </a:spcBef>
              <a:spcAft>
                <a:spcPts val="0"/>
              </a:spcAft>
              <a:buSzPts val="1300"/>
              <a:buFont typeface="Nunito Medium"/>
              <a:buChar char="➢"/>
            </a:pPr>
            <a:r>
              <a:rPr lang="en-US" sz="1300" dirty="0">
                <a:latin typeface="Nunito Medium"/>
                <a:ea typeface="Nunito Medium"/>
                <a:cs typeface="Nunito Medium"/>
                <a:sym typeface="Nunito Medium"/>
              </a:rPr>
              <a:t>Information Protection Processes and Procedures</a:t>
            </a:r>
            <a:endParaRPr sz="1300" dirty="0">
              <a:latin typeface="Nunito Medium"/>
              <a:ea typeface="Nunito Medium"/>
              <a:cs typeface="Nunito Medium"/>
              <a:sym typeface="Nunito Medium"/>
            </a:endParaRPr>
          </a:p>
          <a:p>
            <a:pPr marL="457200" lvl="0" indent="-311150" algn="l" rtl="0">
              <a:lnSpc>
                <a:spcPct val="115000"/>
              </a:lnSpc>
              <a:spcBef>
                <a:spcPts val="0"/>
              </a:spcBef>
              <a:spcAft>
                <a:spcPts val="0"/>
              </a:spcAft>
              <a:buSzPts val="1300"/>
              <a:buFont typeface="Nunito Medium"/>
              <a:buChar char="➢"/>
            </a:pPr>
            <a:r>
              <a:rPr lang="en-US" sz="1300" dirty="0">
                <a:latin typeface="Nunito Medium"/>
                <a:ea typeface="Nunito Medium"/>
                <a:cs typeface="Nunito Medium"/>
                <a:sym typeface="Nunito Medium"/>
              </a:rPr>
              <a:t>Awareness and Training</a:t>
            </a:r>
            <a:endParaRPr sz="1300" dirty="0">
              <a:latin typeface="Nunito Medium"/>
              <a:ea typeface="Nunito Medium"/>
              <a:cs typeface="Nunito Medium"/>
              <a:sym typeface="Nunito Medium"/>
            </a:endParaRPr>
          </a:p>
          <a:p>
            <a:pPr marL="457200" lvl="0" indent="-311150" algn="l" rtl="0">
              <a:lnSpc>
                <a:spcPct val="115000"/>
              </a:lnSpc>
              <a:spcBef>
                <a:spcPts val="0"/>
              </a:spcBef>
              <a:spcAft>
                <a:spcPts val="0"/>
              </a:spcAft>
              <a:buSzPts val="1300"/>
              <a:buFont typeface="Nunito Medium"/>
              <a:buChar char="➢"/>
            </a:pPr>
            <a:r>
              <a:rPr lang="en-US" sz="1300" dirty="0">
                <a:latin typeface="Nunito Medium"/>
                <a:ea typeface="Nunito Medium"/>
                <a:cs typeface="Nunito Medium"/>
                <a:sym typeface="Nunito Medium"/>
              </a:rPr>
              <a:t>Least of Privileges </a:t>
            </a:r>
            <a:endParaRPr sz="1300" dirty="0">
              <a:latin typeface="Nunito Medium"/>
              <a:ea typeface="Nunito Medium"/>
              <a:cs typeface="Nunito Medium"/>
              <a:sym typeface="Nunito Medium"/>
            </a:endParaRPr>
          </a:p>
          <a:p>
            <a:pPr marL="0" lvl="0" indent="0" algn="l" rtl="0">
              <a:lnSpc>
                <a:spcPct val="115000"/>
              </a:lnSpc>
              <a:spcBef>
                <a:spcPts val="0"/>
              </a:spcBef>
              <a:spcAft>
                <a:spcPts val="0"/>
              </a:spcAft>
              <a:buNone/>
            </a:pPr>
            <a:endParaRPr sz="1300" dirty="0">
              <a:latin typeface="Nunito Medium"/>
              <a:ea typeface="Nunito Medium"/>
              <a:cs typeface="Nunito Medium"/>
              <a:sym typeface="Nunito Medium"/>
            </a:endParaRPr>
          </a:p>
          <a:p>
            <a:pPr marL="0" lvl="0" indent="0" algn="l" rtl="0">
              <a:spcBef>
                <a:spcPts val="0"/>
              </a:spcBef>
              <a:spcAft>
                <a:spcPts val="0"/>
              </a:spcAft>
              <a:buNone/>
            </a:pPr>
            <a:endParaRPr dirty="0">
              <a:latin typeface="Nunito Medium"/>
              <a:ea typeface="Nunito Medium"/>
              <a:cs typeface="Nunito Medium"/>
              <a:sym typeface="Nunito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74"/>
                                        </p:tgtEl>
                                        <p:attrNameLst>
                                          <p:attrName>style.visibility</p:attrName>
                                        </p:attrNameLst>
                                      </p:cBhvr>
                                      <p:to>
                                        <p:strVal val="visible"/>
                                      </p:to>
                                    </p:set>
                                    <p:anim calcmode="lin" valueType="num">
                                      <p:cBhvr additive="base">
                                        <p:cTn id="7" dur="1000"/>
                                        <p:tgtEl>
                                          <p:spTgt spid="1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8"/>
          <p:cNvSpPr txBox="1">
            <a:spLocks noGrp="1"/>
          </p:cNvSpPr>
          <p:nvPr>
            <p:ph type="title"/>
          </p:nvPr>
        </p:nvSpPr>
        <p:spPr>
          <a:xfrm>
            <a:off x="1252050" y="570975"/>
            <a:ext cx="5905500" cy="697500"/>
          </a:xfrm>
          <a:prstGeom prst="rect">
            <a:avLst/>
          </a:prstGeom>
          <a:no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0"/>
              </a:spcAft>
              <a:buSzPts val="3000"/>
              <a:buNone/>
            </a:pPr>
            <a:r>
              <a:rPr lang="en-US" sz="1777" b="1"/>
              <a:t>T-Mobile Fourth Breach in Three Years</a:t>
            </a:r>
            <a:endParaRPr sz="1777" b="1"/>
          </a:p>
          <a:p>
            <a:pPr marL="0" lvl="0" indent="0" algn="ctr" rtl="0">
              <a:lnSpc>
                <a:spcPct val="100000"/>
              </a:lnSpc>
              <a:spcBef>
                <a:spcPts val="0"/>
              </a:spcBef>
              <a:spcAft>
                <a:spcPts val="0"/>
              </a:spcAft>
              <a:buSzPts val="3000"/>
              <a:buNone/>
            </a:pPr>
            <a:endParaRPr sz="1633" b="1"/>
          </a:p>
          <a:p>
            <a:pPr marL="0" lvl="0" indent="0" algn="ctr" rtl="0">
              <a:lnSpc>
                <a:spcPct val="100000"/>
              </a:lnSpc>
              <a:spcBef>
                <a:spcPts val="0"/>
              </a:spcBef>
              <a:spcAft>
                <a:spcPts val="0"/>
              </a:spcAft>
              <a:buSzPts val="3000"/>
              <a:buNone/>
            </a:pPr>
            <a:endParaRPr sz="3555"/>
          </a:p>
        </p:txBody>
      </p:sp>
      <p:pic>
        <p:nvPicPr>
          <p:cNvPr id="182" name="Google Shape;182;p8"/>
          <p:cNvPicPr preferRelativeResize="0"/>
          <p:nvPr/>
        </p:nvPicPr>
        <p:blipFill rotWithShape="1">
          <a:blip r:embed="rId3">
            <a:alphaModFix/>
          </a:blip>
          <a:srcRect/>
          <a:stretch/>
        </p:blipFill>
        <p:spPr>
          <a:xfrm>
            <a:off x="7014900" y="236700"/>
            <a:ext cx="1848975" cy="963700"/>
          </a:xfrm>
          <a:prstGeom prst="rect">
            <a:avLst/>
          </a:prstGeom>
          <a:noFill/>
          <a:ln>
            <a:noFill/>
          </a:ln>
        </p:spPr>
      </p:pic>
      <p:sp>
        <p:nvSpPr>
          <p:cNvPr id="183" name="Google Shape;183;p8"/>
          <p:cNvSpPr txBox="1">
            <a:spLocks noGrp="1"/>
          </p:cNvSpPr>
          <p:nvPr>
            <p:ph type="body" idx="2"/>
          </p:nvPr>
        </p:nvSpPr>
        <p:spPr>
          <a:xfrm>
            <a:off x="4713300" y="1268475"/>
            <a:ext cx="3686100" cy="3131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US" sz="1400" dirty="0">
                <a:solidFill>
                  <a:srgbClr val="000000"/>
                </a:solidFill>
                <a:latin typeface="Nunito Medium" panose="020B0604020202020204" charset="0"/>
                <a:ea typeface="Nunito Medium"/>
                <a:cs typeface="Nunito Medium"/>
                <a:sym typeface="Nunito Medium"/>
              </a:rPr>
              <a:t>The Director of Cyber Risk at Brink’s Inc, Angel Mosley's recommendations:</a:t>
            </a:r>
            <a:r>
              <a:rPr lang="en-US" sz="1400" dirty="0">
                <a:solidFill>
                  <a:srgbClr val="000000"/>
                </a:solidFill>
                <a:latin typeface="Nunito Medium" panose="020B0604020202020204" charset="0"/>
              </a:rPr>
              <a:t> </a:t>
            </a:r>
            <a:endParaRPr sz="1400" dirty="0">
              <a:solidFill>
                <a:srgbClr val="000000"/>
              </a:solidFill>
              <a:latin typeface="Nunito Medium" panose="020B0604020202020204" charset="0"/>
            </a:endParaRPr>
          </a:p>
          <a:p>
            <a:pPr marL="0" lvl="0" indent="0" algn="l" rtl="0">
              <a:lnSpc>
                <a:spcPct val="100000"/>
              </a:lnSpc>
              <a:spcBef>
                <a:spcPts val="0"/>
              </a:spcBef>
              <a:spcAft>
                <a:spcPts val="0"/>
              </a:spcAft>
              <a:buNone/>
            </a:pPr>
            <a:endParaRPr sz="1400" dirty="0">
              <a:solidFill>
                <a:srgbClr val="000000"/>
              </a:solidFill>
              <a:latin typeface="Nunito Medium" panose="020B0604020202020204" charset="0"/>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latin typeface="Nunito Medium" panose="020B0604020202020204" charset="0"/>
              </a:rPr>
              <a:t>Risk Management Program</a:t>
            </a:r>
            <a:endParaRPr sz="1400" dirty="0">
              <a:solidFill>
                <a:srgbClr val="000000"/>
              </a:solidFill>
              <a:latin typeface="Nunito Medium" panose="020B0604020202020204" charset="0"/>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latin typeface="Nunito Medium" panose="020B0604020202020204" charset="0"/>
              </a:rPr>
              <a:t>External and Internal network vulnerabilities scan</a:t>
            </a:r>
            <a:endParaRPr sz="1400" dirty="0">
              <a:solidFill>
                <a:srgbClr val="000000"/>
              </a:solidFill>
              <a:latin typeface="Nunito Medium" panose="020B0604020202020204" charset="0"/>
            </a:endParaRPr>
          </a:p>
          <a:p>
            <a:pPr marL="457200" lvl="0" indent="-317500" algn="l" rtl="0">
              <a:lnSpc>
                <a:spcPct val="100000"/>
              </a:lnSpc>
              <a:spcBef>
                <a:spcPts val="0"/>
              </a:spcBef>
              <a:spcAft>
                <a:spcPts val="0"/>
              </a:spcAft>
              <a:buClr>
                <a:srgbClr val="000000"/>
              </a:buClr>
              <a:buSzPts val="1400"/>
              <a:buChar char="➢"/>
            </a:pPr>
            <a:r>
              <a:rPr lang="en-US" sz="1400" dirty="0">
                <a:solidFill>
                  <a:srgbClr val="000000"/>
                </a:solidFill>
                <a:latin typeface="Nunito Medium" panose="020B0604020202020204" charset="0"/>
              </a:rPr>
              <a:t>Implement at a EDR like Carbon Black and Data Loss Prevention tool like McAfee DLP</a:t>
            </a:r>
            <a:endParaRPr sz="1400" dirty="0">
              <a:solidFill>
                <a:srgbClr val="000000"/>
              </a:solidFill>
              <a:latin typeface="Nunito Medium" panose="020B0604020202020204" charset="0"/>
            </a:endParaRPr>
          </a:p>
          <a:p>
            <a:pPr marL="0" lvl="0" indent="0" algn="l" rtl="0">
              <a:lnSpc>
                <a:spcPct val="100000"/>
              </a:lnSpc>
              <a:spcBef>
                <a:spcPts val="0"/>
              </a:spcBef>
              <a:spcAft>
                <a:spcPts val="0"/>
              </a:spcAft>
              <a:buNone/>
            </a:pPr>
            <a:endParaRPr sz="1400" dirty="0">
              <a:solidFill>
                <a:srgbClr val="000000"/>
              </a:solidFill>
              <a:latin typeface="Nunito Medium" panose="020B0604020202020204" charset="0"/>
            </a:endParaRPr>
          </a:p>
        </p:txBody>
      </p:sp>
      <p:sp>
        <p:nvSpPr>
          <p:cNvPr id="184" name="Google Shape;184;p8"/>
          <p:cNvSpPr txBox="1"/>
          <p:nvPr/>
        </p:nvSpPr>
        <p:spPr>
          <a:xfrm>
            <a:off x="673625" y="1110600"/>
            <a:ext cx="3759000" cy="372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err="1">
                <a:solidFill>
                  <a:srgbClr val="151515"/>
                </a:solidFill>
                <a:latin typeface="Nunito Medium"/>
                <a:ea typeface="Nunito Medium"/>
                <a:cs typeface="Nunito Medium"/>
                <a:sym typeface="Nunito Medium"/>
              </a:rPr>
              <a:t>T-mobile</a:t>
            </a:r>
            <a:r>
              <a:rPr lang="en-US" dirty="0">
                <a:solidFill>
                  <a:srgbClr val="151515"/>
                </a:solidFill>
                <a:latin typeface="Nunito Medium"/>
                <a:ea typeface="Nunito Medium"/>
                <a:cs typeface="Nunito Medium"/>
                <a:sym typeface="Nunito Medium"/>
              </a:rPr>
              <a:t> lack of network security controls allows hackers to breach their system once again. In this incident </a:t>
            </a:r>
            <a:r>
              <a:rPr lang="en-US" dirty="0" err="1">
                <a:solidFill>
                  <a:srgbClr val="151515"/>
                </a:solidFill>
                <a:latin typeface="Nunito Medium"/>
                <a:ea typeface="Nunito Medium"/>
                <a:cs typeface="Nunito Medium"/>
                <a:sym typeface="Nunito Medium"/>
              </a:rPr>
              <a:t>T-mobile</a:t>
            </a:r>
            <a:r>
              <a:rPr lang="en-US" dirty="0">
                <a:solidFill>
                  <a:srgbClr val="151515"/>
                </a:solidFill>
                <a:latin typeface="Nunito Medium"/>
                <a:ea typeface="Nunito Medium"/>
                <a:cs typeface="Nunito Medium"/>
                <a:sym typeface="Nunito Medium"/>
              </a:rPr>
              <a:t> had unprotected router exposed on the Internet. </a:t>
            </a:r>
            <a:endParaRPr dirty="0">
              <a:solidFill>
                <a:srgbClr val="151515"/>
              </a:solidFill>
              <a:highlight>
                <a:srgbClr val="FFFF00"/>
              </a:highlight>
              <a:latin typeface="Nunito Medium"/>
              <a:ea typeface="Nunito Medium"/>
              <a:cs typeface="Nunito Medium"/>
              <a:sym typeface="Nunito Medium"/>
            </a:endParaRPr>
          </a:p>
          <a:p>
            <a:pPr marL="0" lvl="0" indent="0" algn="l" rtl="0">
              <a:spcBef>
                <a:spcPts val="0"/>
              </a:spcBef>
              <a:spcAft>
                <a:spcPts val="0"/>
              </a:spcAft>
              <a:buNone/>
            </a:pPr>
            <a:endParaRPr dirty="0">
              <a:solidFill>
                <a:srgbClr val="151515"/>
              </a:solidFill>
              <a:highlight>
                <a:srgbClr val="FFFF00"/>
              </a:highlight>
              <a:latin typeface="Nunito Medium"/>
              <a:ea typeface="Nunito Medium"/>
              <a:cs typeface="Nunito Medium"/>
              <a:sym typeface="Nunito Medium"/>
            </a:endParaRPr>
          </a:p>
          <a:p>
            <a:pPr marL="457200" lvl="0" indent="-228600" algn="l" rtl="0">
              <a:lnSpc>
                <a:spcPct val="115000"/>
              </a:lnSpc>
              <a:spcBef>
                <a:spcPts val="0"/>
              </a:spcBef>
              <a:spcAft>
                <a:spcPts val="0"/>
              </a:spcAft>
              <a:buClr>
                <a:srgbClr val="000000"/>
              </a:buClr>
              <a:buSzPts val="1300"/>
              <a:buFont typeface="Arial"/>
              <a:buNone/>
            </a:pPr>
            <a:r>
              <a:rPr lang="en-US" sz="1300" dirty="0">
                <a:solidFill>
                  <a:srgbClr val="151515"/>
                </a:solidFill>
                <a:latin typeface="Nunito Medium"/>
                <a:ea typeface="Nunito Medium"/>
                <a:cs typeface="Nunito Medium"/>
                <a:sym typeface="Nunito Medium"/>
              </a:rPr>
              <a:t>My control recommendation:</a:t>
            </a:r>
            <a:endParaRPr sz="1300" dirty="0">
              <a:solidFill>
                <a:srgbClr val="151515"/>
              </a:solidFill>
              <a:latin typeface="Nunito Medium"/>
              <a:ea typeface="Nunito Medium"/>
              <a:cs typeface="Nunito Medium"/>
              <a:sym typeface="Nunito Medium"/>
            </a:endParaRPr>
          </a:p>
          <a:p>
            <a:pPr marL="457200" lvl="0" indent="-311150" algn="l" rtl="0">
              <a:lnSpc>
                <a:spcPct val="115000"/>
              </a:lnSpc>
              <a:spcBef>
                <a:spcPts val="0"/>
              </a:spcBef>
              <a:spcAft>
                <a:spcPts val="0"/>
              </a:spcAft>
              <a:buClr>
                <a:srgbClr val="151515"/>
              </a:buClr>
              <a:buSzPts val="1300"/>
              <a:buFont typeface="Nunito Medium"/>
              <a:buChar char="➢"/>
            </a:pPr>
            <a:r>
              <a:rPr lang="en-US" sz="1300" dirty="0">
                <a:solidFill>
                  <a:srgbClr val="151515"/>
                </a:solidFill>
                <a:latin typeface="Nunito Medium"/>
                <a:ea typeface="Nunito Medium"/>
                <a:cs typeface="Nunito Medium"/>
                <a:sym typeface="Nunito Medium"/>
              </a:rPr>
              <a:t>Risk Assessment, Supply Chain Risk Management </a:t>
            </a:r>
            <a:endParaRPr sz="1300" dirty="0">
              <a:solidFill>
                <a:srgbClr val="151515"/>
              </a:solidFill>
              <a:latin typeface="Nunito Medium"/>
              <a:ea typeface="Nunito Medium"/>
              <a:cs typeface="Nunito Medium"/>
              <a:sym typeface="Nunito Medium"/>
            </a:endParaRPr>
          </a:p>
          <a:p>
            <a:pPr marL="457200" lvl="0" indent="-311150" algn="l" rtl="0">
              <a:lnSpc>
                <a:spcPct val="115000"/>
              </a:lnSpc>
              <a:spcBef>
                <a:spcPts val="0"/>
              </a:spcBef>
              <a:spcAft>
                <a:spcPts val="0"/>
              </a:spcAft>
              <a:buClr>
                <a:srgbClr val="151515"/>
              </a:buClr>
              <a:buSzPts val="1300"/>
              <a:buFont typeface="Nunito Medium"/>
              <a:buChar char="➢"/>
            </a:pPr>
            <a:r>
              <a:rPr lang="en-US" sz="1300" dirty="0">
                <a:solidFill>
                  <a:srgbClr val="151515"/>
                </a:solidFill>
                <a:latin typeface="Nunito Medium"/>
                <a:ea typeface="Nunito Medium"/>
                <a:cs typeface="Nunito Medium"/>
                <a:sym typeface="Nunito Medium"/>
              </a:rPr>
              <a:t>Continuous Monitoring &amp; Detection</a:t>
            </a:r>
            <a:endParaRPr sz="1300" dirty="0">
              <a:solidFill>
                <a:srgbClr val="151515"/>
              </a:solidFill>
              <a:latin typeface="Nunito Medium"/>
              <a:ea typeface="Nunito Medium"/>
              <a:cs typeface="Nunito Medium"/>
              <a:sym typeface="Nunito Medium"/>
            </a:endParaRPr>
          </a:p>
          <a:p>
            <a:pPr marL="457200" lvl="0" indent="-311150" algn="l" rtl="0">
              <a:lnSpc>
                <a:spcPct val="115000"/>
              </a:lnSpc>
              <a:spcBef>
                <a:spcPts val="0"/>
              </a:spcBef>
              <a:spcAft>
                <a:spcPts val="0"/>
              </a:spcAft>
              <a:buClr>
                <a:srgbClr val="151515"/>
              </a:buClr>
              <a:buSzPts val="1300"/>
              <a:buFont typeface="Nunito Medium"/>
              <a:buChar char="➢"/>
            </a:pPr>
            <a:r>
              <a:rPr lang="en-US" sz="1300" dirty="0">
                <a:solidFill>
                  <a:srgbClr val="151515"/>
                </a:solidFill>
                <a:latin typeface="Nunito Medium"/>
                <a:ea typeface="Nunito Medium"/>
                <a:cs typeface="Nunito Medium"/>
                <a:sym typeface="Nunito Medium"/>
              </a:rPr>
              <a:t>Response &amp; Recovery Plan </a:t>
            </a:r>
            <a:endParaRPr sz="1300" dirty="0">
              <a:solidFill>
                <a:srgbClr val="151515"/>
              </a:solidFill>
              <a:latin typeface="Nunito Medium"/>
              <a:ea typeface="Nunito Medium"/>
              <a:cs typeface="Nunito Medium"/>
              <a:sym typeface="Nunito Medium"/>
            </a:endParaRPr>
          </a:p>
          <a:p>
            <a:pPr marL="457200" lvl="0" indent="-311150" algn="l" rtl="0">
              <a:lnSpc>
                <a:spcPct val="115000"/>
              </a:lnSpc>
              <a:spcBef>
                <a:spcPts val="0"/>
              </a:spcBef>
              <a:spcAft>
                <a:spcPts val="0"/>
              </a:spcAft>
              <a:buClr>
                <a:srgbClr val="151515"/>
              </a:buClr>
              <a:buSzPts val="1300"/>
              <a:buFont typeface="Nunito Medium"/>
              <a:buChar char="➢"/>
            </a:pPr>
            <a:r>
              <a:rPr lang="en-US" sz="1300" dirty="0">
                <a:solidFill>
                  <a:srgbClr val="151515"/>
                </a:solidFill>
                <a:latin typeface="Nunito Medium"/>
                <a:ea typeface="Nunito Medium"/>
                <a:cs typeface="Nunito Medium"/>
                <a:sym typeface="Nunito Medium"/>
              </a:rPr>
              <a:t>Communication (Lesson Learned) </a:t>
            </a:r>
            <a:endParaRPr sz="1300" dirty="0">
              <a:solidFill>
                <a:srgbClr val="151515"/>
              </a:solidFill>
              <a:latin typeface="Nunito Medium"/>
              <a:ea typeface="Nunito Medium"/>
              <a:cs typeface="Nunito Medium"/>
              <a:sym typeface="Nunito Medium"/>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82"/>
                                        </p:tgtEl>
                                        <p:attrNameLst>
                                          <p:attrName>style.visibility</p:attrName>
                                        </p:attrNameLst>
                                      </p:cBhvr>
                                      <p:to>
                                        <p:strVal val="visible"/>
                                      </p:to>
                                    </p:set>
                                    <p:anim calcmode="lin" valueType="num">
                                      <p:cBhvr additive="base">
                                        <p:cTn id="7" dur="1000"/>
                                        <p:tgtEl>
                                          <p:spTgt spid="1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title"/>
          </p:nvPr>
        </p:nvSpPr>
        <p:spPr>
          <a:xfrm>
            <a:off x="1252050" y="570975"/>
            <a:ext cx="5905500" cy="697500"/>
          </a:xfrm>
          <a:prstGeom prst="rect">
            <a:avLst/>
          </a:prstGeom>
          <a:no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0"/>
              </a:spcAft>
              <a:buSzPts val="3000"/>
              <a:buNone/>
            </a:pPr>
            <a:r>
              <a:rPr lang="en-US" sz="1887" b="1"/>
              <a:t>700 million LinkedIn Records for Sale</a:t>
            </a:r>
            <a:endParaRPr sz="1887" b="1"/>
          </a:p>
          <a:p>
            <a:pPr marL="0" lvl="0" indent="0" algn="ctr" rtl="0">
              <a:lnSpc>
                <a:spcPct val="115000"/>
              </a:lnSpc>
              <a:spcBef>
                <a:spcPts val="0"/>
              </a:spcBef>
              <a:spcAft>
                <a:spcPts val="0"/>
              </a:spcAft>
              <a:buSzPts val="3000"/>
              <a:buNone/>
            </a:pPr>
            <a:endParaRPr sz="1777" b="1"/>
          </a:p>
          <a:p>
            <a:pPr marL="0" lvl="0" indent="0" algn="ctr" rtl="0">
              <a:lnSpc>
                <a:spcPct val="100000"/>
              </a:lnSpc>
              <a:spcBef>
                <a:spcPts val="0"/>
              </a:spcBef>
              <a:spcAft>
                <a:spcPts val="0"/>
              </a:spcAft>
              <a:buSzPts val="3000"/>
              <a:buNone/>
            </a:pPr>
            <a:endParaRPr sz="1633" b="1"/>
          </a:p>
          <a:p>
            <a:pPr marL="0" lvl="0" indent="0" algn="ctr" rtl="0">
              <a:lnSpc>
                <a:spcPct val="100000"/>
              </a:lnSpc>
              <a:spcBef>
                <a:spcPts val="0"/>
              </a:spcBef>
              <a:spcAft>
                <a:spcPts val="0"/>
              </a:spcAft>
              <a:buSzPts val="3000"/>
              <a:buNone/>
            </a:pPr>
            <a:endParaRPr sz="3555"/>
          </a:p>
        </p:txBody>
      </p:sp>
      <p:pic>
        <p:nvPicPr>
          <p:cNvPr id="190" name="Google Shape;190;p9"/>
          <p:cNvPicPr preferRelativeResize="0"/>
          <p:nvPr/>
        </p:nvPicPr>
        <p:blipFill rotWithShape="1">
          <a:blip r:embed="rId3">
            <a:alphaModFix/>
          </a:blip>
          <a:srcRect/>
          <a:stretch/>
        </p:blipFill>
        <p:spPr>
          <a:xfrm>
            <a:off x="6880425" y="164700"/>
            <a:ext cx="1962276" cy="1103774"/>
          </a:xfrm>
          <a:prstGeom prst="rect">
            <a:avLst/>
          </a:prstGeom>
          <a:noFill/>
          <a:ln>
            <a:noFill/>
          </a:ln>
        </p:spPr>
      </p:pic>
      <p:sp>
        <p:nvSpPr>
          <p:cNvPr id="191" name="Google Shape;191;p9"/>
          <p:cNvSpPr txBox="1"/>
          <p:nvPr/>
        </p:nvSpPr>
        <p:spPr>
          <a:xfrm>
            <a:off x="673107" y="1173300"/>
            <a:ext cx="3270000" cy="276995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Nunito Medium"/>
                <a:ea typeface="Nunito Medium"/>
                <a:cs typeface="Nunito Medium"/>
                <a:sym typeface="Nunito Medium"/>
              </a:rPr>
              <a:t>Data scraping vs Data Breach</a:t>
            </a:r>
            <a:endParaRPr dirty="0">
              <a:latin typeface="Nunito Medium"/>
              <a:ea typeface="Nunito Medium"/>
              <a:cs typeface="Nunito Medium"/>
              <a:sym typeface="Nunito Medium"/>
            </a:endParaRPr>
          </a:p>
          <a:p>
            <a:pPr marL="0" lvl="0" indent="0" algn="l" rtl="0">
              <a:spcBef>
                <a:spcPts val="0"/>
              </a:spcBef>
              <a:spcAft>
                <a:spcPts val="0"/>
              </a:spcAft>
              <a:buNone/>
            </a:pPr>
            <a:endParaRPr dirty="0">
              <a:latin typeface="Nunito Medium"/>
              <a:ea typeface="Nunito Medium"/>
              <a:cs typeface="Nunito Medium"/>
              <a:sym typeface="Nunito Medium"/>
            </a:endParaRPr>
          </a:p>
          <a:p>
            <a:pPr marL="457200" lvl="0" indent="-317500" algn="l" rtl="0">
              <a:spcBef>
                <a:spcPts val="0"/>
              </a:spcBef>
              <a:spcAft>
                <a:spcPts val="0"/>
              </a:spcAft>
              <a:buSzPts val="1400"/>
              <a:buFont typeface="Nunito Medium"/>
              <a:buChar char="➢"/>
            </a:pPr>
            <a:r>
              <a:rPr lang="en-US" dirty="0">
                <a:latin typeface="Nunito Medium"/>
                <a:ea typeface="Nunito Medium"/>
                <a:cs typeface="Nunito Medium"/>
                <a:sym typeface="Nunito Medium"/>
              </a:rPr>
              <a:t>Data Classification</a:t>
            </a:r>
            <a:endParaRPr dirty="0">
              <a:latin typeface="Nunito Medium"/>
              <a:ea typeface="Nunito Medium"/>
              <a:cs typeface="Nunito Medium"/>
              <a:sym typeface="Nunito Medium"/>
            </a:endParaRPr>
          </a:p>
          <a:p>
            <a:pPr marL="457200" lvl="0" indent="-317500" algn="l" rtl="0">
              <a:spcBef>
                <a:spcPts val="0"/>
              </a:spcBef>
              <a:spcAft>
                <a:spcPts val="0"/>
              </a:spcAft>
              <a:buSzPts val="1400"/>
              <a:buFont typeface="Nunito Medium"/>
              <a:buChar char="➢"/>
            </a:pPr>
            <a:r>
              <a:rPr lang="en-US" dirty="0">
                <a:latin typeface="Nunito Medium"/>
                <a:ea typeface="Nunito Medium"/>
                <a:cs typeface="Nunito Medium"/>
                <a:sym typeface="Nunito Medium"/>
              </a:rPr>
              <a:t>Difference between previous breach in April 2021</a:t>
            </a:r>
            <a:endParaRPr dirty="0">
              <a:latin typeface="Nunito Medium"/>
              <a:ea typeface="Nunito Medium"/>
              <a:cs typeface="Nunito Medium"/>
              <a:sym typeface="Nunito Medium"/>
            </a:endParaRPr>
          </a:p>
          <a:p>
            <a:pPr marL="0" lvl="0" indent="0" algn="l" rtl="0">
              <a:spcBef>
                <a:spcPts val="0"/>
              </a:spcBef>
              <a:spcAft>
                <a:spcPts val="0"/>
              </a:spcAft>
              <a:buNone/>
            </a:pPr>
            <a:endParaRPr dirty="0">
              <a:latin typeface="Nunito Medium"/>
              <a:ea typeface="Nunito Medium"/>
              <a:cs typeface="Nunito Medium"/>
              <a:sym typeface="Nunito Medium"/>
            </a:endParaRPr>
          </a:p>
          <a:p>
            <a:pPr marL="0" lvl="0" indent="0" algn="l" rtl="0">
              <a:spcBef>
                <a:spcPts val="0"/>
              </a:spcBef>
              <a:spcAft>
                <a:spcPts val="0"/>
              </a:spcAft>
              <a:buNone/>
            </a:pPr>
            <a:r>
              <a:rPr lang="en-US" dirty="0">
                <a:latin typeface="Nunito Medium"/>
                <a:ea typeface="Nunito Medium"/>
                <a:cs typeface="Nunito Medium"/>
                <a:sym typeface="Nunito Medium"/>
              </a:rPr>
              <a:t>My recommendations to mitigate risk:</a:t>
            </a:r>
          </a:p>
          <a:p>
            <a:pPr marL="0" lvl="0" indent="0" algn="l" rtl="0">
              <a:spcBef>
                <a:spcPts val="0"/>
              </a:spcBef>
              <a:spcAft>
                <a:spcPts val="0"/>
              </a:spcAft>
              <a:buNone/>
            </a:pPr>
            <a:r>
              <a:rPr lang="en-US" dirty="0">
                <a:latin typeface="Nunito Medium"/>
                <a:ea typeface="Nunito Medium"/>
                <a:cs typeface="Nunito Medium"/>
                <a:sym typeface="Nunito Medium"/>
              </a:rPr>
              <a:t> </a:t>
            </a:r>
            <a:endParaRPr dirty="0">
              <a:latin typeface="Nunito Medium"/>
              <a:ea typeface="Nunito Medium"/>
              <a:cs typeface="Nunito Medium"/>
              <a:sym typeface="Nunito Medium"/>
            </a:endParaRPr>
          </a:p>
          <a:p>
            <a:pPr marL="457200" lvl="0" indent="-317500" algn="l" rtl="0">
              <a:spcBef>
                <a:spcPts val="0"/>
              </a:spcBef>
              <a:spcAft>
                <a:spcPts val="0"/>
              </a:spcAft>
              <a:buSzPts val="1400"/>
              <a:buFont typeface="Nunito Medium"/>
              <a:buChar char="➢"/>
            </a:pPr>
            <a:r>
              <a:rPr lang="en-US" dirty="0">
                <a:latin typeface="Nunito Medium"/>
                <a:ea typeface="Nunito Medium"/>
                <a:cs typeface="Nunito Medium"/>
                <a:sym typeface="Nunito Medium"/>
              </a:rPr>
              <a:t>Risk Management Strategy </a:t>
            </a:r>
            <a:endParaRPr dirty="0">
              <a:latin typeface="Nunito Medium"/>
              <a:ea typeface="Nunito Medium"/>
              <a:cs typeface="Nunito Medium"/>
              <a:sym typeface="Nunito Medium"/>
            </a:endParaRPr>
          </a:p>
          <a:p>
            <a:pPr marL="457200" lvl="0" indent="-317500" algn="l" rtl="0">
              <a:spcBef>
                <a:spcPts val="0"/>
              </a:spcBef>
              <a:spcAft>
                <a:spcPts val="0"/>
              </a:spcAft>
              <a:buSzPts val="1400"/>
              <a:buFont typeface="Nunito Medium"/>
              <a:buChar char="➢"/>
            </a:pPr>
            <a:r>
              <a:rPr lang="en-US" dirty="0">
                <a:latin typeface="Nunito Medium"/>
                <a:ea typeface="Nunito Medium"/>
                <a:cs typeface="Nunito Medium"/>
                <a:sym typeface="Nunito Medium"/>
              </a:rPr>
              <a:t>Asset Classification</a:t>
            </a:r>
            <a:endParaRPr dirty="0">
              <a:latin typeface="Nunito Medium"/>
              <a:ea typeface="Nunito Medium"/>
              <a:cs typeface="Nunito Medium"/>
              <a:sym typeface="Nunito Medium"/>
            </a:endParaRPr>
          </a:p>
          <a:p>
            <a:pPr marL="457200" lvl="0" indent="-317500" algn="l" rtl="0">
              <a:spcBef>
                <a:spcPts val="0"/>
              </a:spcBef>
              <a:spcAft>
                <a:spcPts val="0"/>
              </a:spcAft>
              <a:buSzPts val="1400"/>
              <a:buFont typeface="Nunito Medium"/>
              <a:buChar char="➢"/>
            </a:pPr>
            <a:r>
              <a:rPr lang="en-US" dirty="0">
                <a:latin typeface="Nunito Medium"/>
                <a:ea typeface="Nunito Medium"/>
                <a:cs typeface="Nunito Medium"/>
                <a:sym typeface="Nunito Medium"/>
              </a:rPr>
              <a:t>Protection Technology</a:t>
            </a:r>
            <a:endParaRPr dirty="0">
              <a:latin typeface="Nunito Medium"/>
              <a:ea typeface="Nunito Medium"/>
              <a:cs typeface="Nunito Medium"/>
              <a:sym typeface="Nunito Medium"/>
            </a:endParaRPr>
          </a:p>
          <a:p>
            <a:pPr marL="457200" lvl="0" indent="0" algn="l" rtl="0">
              <a:spcBef>
                <a:spcPts val="0"/>
              </a:spcBef>
              <a:spcAft>
                <a:spcPts val="0"/>
              </a:spcAft>
              <a:buNone/>
            </a:pPr>
            <a:endParaRPr dirty="0">
              <a:latin typeface="Calibri"/>
              <a:ea typeface="Calibri"/>
              <a:cs typeface="Calibri"/>
              <a:sym typeface="Calibri"/>
            </a:endParaRPr>
          </a:p>
        </p:txBody>
      </p:sp>
      <p:sp>
        <p:nvSpPr>
          <p:cNvPr id="192" name="Google Shape;192;p9"/>
          <p:cNvSpPr txBox="1"/>
          <p:nvPr/>
        </p:nvSpPr>
        <p:spPr>
          <a:xfrm>
            <a:off x="4572000" y="1173300"/>
            <a:ext cx="3389400" cy="34162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Nunito Medium" panose="020B0604020202020204" charset="0"/>
                <a:ea typeface="Nunito Medium"/>
                <a:cs typeface="Nunito Medium"/>
                <a:sym typeface="Nunito Medium"/>
              </a:rPr>
              <a:t>The Director of Cyber Risk at Brink’s Inc, Angel Mosley's recommendations:</a:t>
            </a:r>
            <a:r>
              <a:rPr lang="en-US" dirty="0">
                <a:latin typeface="Nunito Medium" panose="020B0604020202020204" charset="0"/>
                <a:ea typeface="Calibri"/>
                <a:cs typeface="Calibri"/>
                <a:sym typeface="Calibri"/>
              </a:rPr>
              <a:t> </a:t>
            </a:r>
            <a:endParaRPr dirty="0">
              <a:latin typeface="Nunito Medium" panose="020B0604020202020204" charset="0"/>
              <a:ea typeface="Calibri"/>
              <a:cs typeface="Calibri"/>
              <a:sym typeface="Calibri"/>
            </a:endParaRPr>
          </a:p>
          <a:p>
            <a:pPr marL="0" lvl="0" indent="0" algn="l" rtl="0">
              <a:spcBef>
                <a:spcPts val="0"/>
              </a:spcBef>
              <a:spcAft>
                <a:spcPts val="0"/>
              </a:spcAft>
              <a:buNone/>
            </a:pP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Monitoring new and existing accounts with a high level of unusual activity</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Detecting abnormal views of content</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Deploy a security monitoring tool</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Deploy tool to block web scraping </a:t>
            </a:r>
            <a:endParaRPr dirty="0">
              <a:latin typeface="Nunito Medium" panose="020B0604020202020204" charset="0"/>
              <a:ea typeface="Calibri"/>
              <a:cs typeface="Calibri"/>
              <a:sym typeface="Calibri"/>
            </a:endParaRPr>
          </a:p>
          <a:p>
            <a:pPr marL="914400" lvl="1"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Implement real-time notifications</a:t>
            </a:r>
            <a:endParaRPr dirty="0">
              <a:latin typeface="Nunito Medium" panose="020B0604020202020204" charset="0"/>
              <a:ea typeface="Calibri"/>
              <a:cs typeface="Calibri"/>
              <a:sym typeface="Calibri"/>
            </a:endParaRPr>
          </a:p>
          <a:p>
            <a:pPr marL="0" lvl="0" indent="0" algn="l" rtl="0">
              <a:spcBef>
                <a:spcPts val="0"/>
              </a:spcBef>
              <a:spcAft>
                <a:spcPts val="0"/>
              </a:spcAft>
              <a:buNone/>
            </a:pPr>
            <a:endParaRPr dirty="0">
              <a:latin typeface="Nunito Medium" panose="020B0604020202020204" charset="0"/>
              <a:ea typeface="Calibri"/>
              <a:cs typeface="Calibri"/>
              <a:sym typeface="Calibri"/>
            </a:endParaRPr>
          </a:p>
          <a:p>
            <a:pPr marL="0" lvl="0" indent="0" algn="l" rtl="0">
              <a:spcBef>
                <a:spcPts val="0"/>
              </a:spcBef>
              <a:spcAft>
                <a:spcPts val="0"/>
              </a:spcAft>
              <a:buNone/>
            </a:pPr>
            <a:endParaRPr dirty="0">
              <a:latin typeface="Nunito Medium" panose="020B0604020202020204"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1000"/>
                                        <p:tgtEl>
                                          <p:spTgt spid="1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0"/>
          <p:cNvSpPr txBox="1">
            <a:spLocks noGrp="1"/>
          </p:cNvSpPr>
          <p:nvPr>
            <p:ph type="title"/>
          </p:nvPr>
        </p:nvSpPr>
        <p:spPr>
          <a:xfrm>
            <a:off x="725825" y="577725"/>
            <a:ext cx="6030000" cy="7365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15000"/>
              </a:lnSpc>
              <a:spcBef>
                <a:spcPts val="0"/>
              </a:spcBef>
              <a:spcAft>
                <a:spcPts val="0"/>
              </a:spcAft>
              <a:buSzPct val="186219"/>
              <a:buNone/>
            </a:pPr>
            <a:r>
              <a:rPr lang="en-US" sz="1611" b="1"/>
              <a:t>Capital One to Pay $190 Million Class-Action Lawsuit and $80 Million Regulatory Fine After Data Breach</a:t>
            </a:r>
            <a:endParaRPr sz="2000" b="1"/>
          </a:p>
          <a:p>
            <a:pPr marL="0" lvl="0" indent="0" algn="ctr" rtl="0">
              <a:lnSpc>
                <a:spcPct val="115000"/>
              </a:lnSpc>
              <a:spcBef>
                <a:spcPts val="0"/>
              </a:spcBef>
              <a:spcAft>
                <a:spcPts val="0"/>
              </a:spcAft>
              <a:buSzPct val="168823"/>
              <a:buNone/>
            </a:pPr>
            <a:endParaRPr sz="1777" b="1"/>
          </a:p>
          <a:p>
            <a:pPr marL="0" lvl="0" indent="0" algn="ctr" rtl="0">
              <a:lnSpc>
                <a:spcPct val="100000"/>
              </a:lnSpc>
              <a:spcBef>
                <a:spcPts val="0"/>
              </a:spcBef>
              <a:spcAft>
                <a:spcPts val="0"/>
              </a:spcAft>
              <a:buSzPct val="183710"/>
              <a:buNone/>
            </a:pPr>
            <a:endParaRPr sz="1633" b="1"/>
          </a:p>
          <a:p>
            <a:pPr marL="0" lvl="0" indent="0" algn="ctr" rtl="0">
              <a:lnSpc>
                <a:spcPct val="100000"/>
              </a:lnSpc>
              <a:spcBef>
                <a:spcPts val="0"/>
              </a:spcBef>
              <a:spcAft>
                <a:spcPts val="0"/>
              </a:spcAft>
              <a:buSzPct val="84388"/>
              <a:buNone/>
            </a:pPr>
            <a:endParaRPr sz="3555"/>
          </a:p>
        </p:txBody>
      </p:sp>
      <p:pic>
        <p:nvPicPr>
          <p:cNvPr id="198" name="Google Shape;198;p10"/>
          <p:cNvPicPr preferRelativeResize="0"/>
          <p:nvPr/>
        </p:nvPicPr>
        <p:blipFill rotWithShape="1">
          <a:blip r:embed="rId3">
            <a:alphaModFix/>
          </a:blip>
          <a:srcRect/>
          <a:stretch/>
        </p:blipFill>
        <p:spPr>
          <a:xfrm>
            <a:off x="7064423" y="281101"/>
            <a:ext cx="1744602" cy="944999"/>
          </a:xfrm>
          <a:prstGeom prst="rect">
            <a:avLst/>
          </a:prstGeom>
          <a:noFill/>
          <a:ln>
            <a:noFill/>
          </a:ln>
        </p:spPr>
      </p:pic>
      <p:sp>
        <p:nvSpPr>
          <p:cNvPr id="199" name="Google Shape;199;p10"/>
          <p:cNvSpPr txBox="1">
            <a:spLocks noGrp="1"/>
          </p:cNvSpPr>
          <p:nvPr>
            <p:ph type="body" idx="2"/>
          </p:nvPr>
        </p:nvSpPr>
        <p:spPr>
          <a:xfrm>
            <a:off x="4250624" y="1381276"/>
            <a:ext cx="3686100" cy="24480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US" sz="1400" dirty="0">
                <a:solidFill>
                  <a:schemeClr val="tx2">
                    <a:lumMod val="10000"/>
                  </a:schemeClr>
                </a:solidFill>
                <a:latin typeface="Nunito Medium" panose="020B0604020202020204" charset="0"/>
                <a:ea typeface="Nunito Medium"/>
                <a:cs typeface="Nunito Medium"/>
                <a:sym typeface="Nunito Medium"/>
              </a:rPr>
              <a:t>The Director of Cyber Risk at Brink’s Inc, Angel Mosley's recommendations:</a:t>
            </a:r>
            <a:r>
              <a:rPr lang="en-US" sz="1400" dirty="0">
                <a:solidFill>
                  <a:schemeClr val="tx2">
                    <a:lumMod val="10000"/>
                  </a:schemeClr>
                </a:solidFill>
                <a:latin typeface="Nunito Medium" panose="020B0604020202020204" charset="0"/>
              </a:rPr>
              <a:t> </a:t>
            </a:r>
            <a:endParaRPr sz="1400" dirty="0">
              <a:solidFill>
                <a:schemeClr val="tx2">
                  <a:lumMod val="10000"/>
                </a:schemeClr>
              </a:solidFill>
              <a:latin typeface="Nunito Medium" panose="020B0604020202020204" charset="0"/>
            </a:endParaRPr>
          </a:p>
          <a:p>
            <a:pPr marL="0" lvl="0" indent="0" algn="l" rtl="0">
              <a:lnSpc>
                <a:spcPct val="100000"/>
              </a:lnSpc>
              <a:spcBef>
                <a:spcPts val="0"/>
              </a:spcBef>
              <a:spcAft>
                <a:spcPts val="0"/>
              </a:spcAft>
              <a:buNone/>
            </a:pPr>
            <a:endParaRPr sz="1400" dirty="0">
              <a:solidFill>
                <a:schemeClr val="tx2">
                  <a:lumMod val="10000"/>
                </a:schemeClr>
              </a:solidFill>
              <a:latin typeface="Nunito Medium" panose="020B0604020202020204" charset="0"/>
            </a:endParaRPr>
          </a:p>
          <a:p>
            <a:pPr marL="457200" lvl="0" indent="-317500" algn="l" rtl="0">
              <a:lnSpc>
                <a:spcPct val="100000"/>
              </a:lnSpc>
              <a:spcBef>
                <a:spcPts val="0"/>
              </a:spcBef>
              <a:spcAft>
                <a:spcPts val="0"/>
              </a:spcAft>
              <a:buClr>
                <a:srgbClr val="000000"/>
              </a:buClr>
              <a:buSzPts val="1400"/>
              <a:buChar char="➢"/>
            </a:pPr>
            <a:r>
              <a:rPr lang="en-US" sz="1400" dirty="0">
                <a:solidFill>
                  <a:schemeClr val="tx2">
                    <a:lumMod val="10000"/>
                  </a:schemeClr>
                </a:solidFill>
                <a:latin typeface="Nunito Medium" panose="020B0604020202020204" charset="0"/>
              </a:rPr>
              <a:t>Implement a comprehensive risk assessment process that uses a framework like NIST 800-53 or ISO 31000</a:t>
            </a:r>
          </a:p>
          <a:p>
            <a:pPr lvl="0" indent="-317500">
              <a:lnSpc>
                <a:spcPct val="100000"/>
              </a:lnSpc>
              <a:buClr>
                <a:srgbClr val="000000"/>
              </a:buClr>
              <a:buSzPts val="1400"/>
              <a:buChar char="➢"/>
            </a:pPr>
            <a:r>
              <a:rPr lang="en-US" dirty="0">
                <a:solidFill>
                  <a:schemeClr val="tx2">
                    <a:lumMod val="10000"/>
                  </a:schemeClr>
                </a:solidFill>
                <a:latin typeface="Nunito Medium" panose="020B0604020202020204" charset="0"/>
              </a:rPr>
              <a:t>Perform manual review of IAM policies and roles</a:t>
            </a:r>
          </a:p>
          <a:p>
            <a:pPr indent="-317500">
              <a:lnSpc>
                <a:spcPct val="100000"/>
              </a:lnSpc>
              <a:buClr>
                <a:srgbClr val="000000"/>
              </a:buClr>
              <a:buSzPts val="1400"/>
              <a:buFont typeface="Calibri"/>
              <a:buChar char="➢"/>
            </a:pPr>
            <a:r>
              <a:rPr lang="en-US" dirty="0">
                <a:solidFill>
                  <a:schemeClr val="tx2">
                    <a:lumMod val="10000"/>
                  </a:schemeClr>
                </a:solidFill>
                <a:latin typeface="Nunito Medium" panose="020B0604020202020204" charset="0"/>
              </a:rPr>
              <a:t>Perform penetration testing to identify any potential vulnerabilities.</a:t>
            </a:r>
          </a:p>
          <a:p>
            <a:pPr lvl="0" indent="-317500">
              <a:lnSpc>
                <a:spcPct val="100000"/>
              </a:lnSpc>
              <a:buClr>
                <a:srgbClr val="000000"/>
              </a:buClr>
              <a:buSzPts val="1400"/>
              <a:buChar char="➢"/>
            </a:pPr>
            <a:r>
              <a:rPr lang="en-US" dirty="0">
                <a:solidFill>
                  <a:schemeClr val="tx2">
                    <a:lumMod val="10000"/>
                  </a:schemeClr>
                </a:solidFill>
                <a:latin typeface="Nunito Medium" panose="020B0604020202020204" charset="0"/>
              </a:rPr>
              <a:t>Deploy WAF that protection </a:t>
            </a:r>
            <a:endParaRPr sz="1400" dirty="0">
              <a:solidFill>
                <a:schemeClr val="tx2">
                  <a:lumMod val="10000"/>
                </a:schemeClr>
              </a:solidFill>
              <a:latin typeface="Nunito Medium" panose="020B0604020202020204" charset="0"/>
            </a:endParaRPr>
          </a:p>
        </p:txBody>
      </p:sp>
      <p:sp>
        <p:nvSpPr>
          <p:cNvPr id="200" name="Google Shape;200;p10"/>
          <p:cNvSpPr txBox="1"/>
          <p:nvPr/>
        </p:nvSpPr>
        <p:spPr>
          <a:xfrm>
            <a:off x="807625" y="1373197"/>
            <a:ext cx="3005096" cy="3631733"/>
          </a:xfrm>
          <a:prstGeom prst="rect">
            <a:avLst/>
          </a:prstGeom>
          <a:noFill/>
          <a:ln>
            <a:noFill/>
          </a:ln>
        </p:spPr>
        <p:txBody>
          <a:bodyPr spcFirstLastPara="1" wrap="square" lIns="91425" tIns="91425" rIns="91425" bIns="91425" anchor="t" anchorCtr="0">
            <a:spAutoFit/>
          </a:bodyPr>
          <a:lstStyle/>
          <a:p>
            <a:pPr lvl="0"/>
            <a:r>
              <a:rPr lang="en-US" dirty="0">
                <a:latin typeface="Nunito Medium" panose="020B0604020202020204" charset="0"/>
                <a:ea typeface="Calibri"/>
                <a:cs typeface="Calibri"/>
                <a:sym typeface="Calibri"/>
              </a:rPr>
              <a:t>Former System Engineer discovered the </a:t>
            </a:r>
            <a:r>
              <a:rPr lang="en-US" dirty="0">
                <a:latin typeface="Nunito Medium" panose="020B0604020202020204" charset="0"/>
              </a:rPr>
              <a:t>public IP address of an </a:t>
            </a:r>
            <a:r>
              <a:rPr lang="en-US" dirty="0">
                <a:latin typeface="Nunito Medium" panose="020B0604020202020204" charset="0"/>
                <a:ea typeface="Calibri"/>
                <a:cs typeface="Calibri"/>
                <a:sym typeface="Calibri"/>
              </a:rPr>
              <a:t>AWS EC2 instance which allowed her </a:t>
            </a:r>
            <a:r>
              <a:rPr lang="en-US" dirty="0">
                <a:latin typeface="Nunito Medium" panose="020B0604020202020204" charset="0"/>
              </a:rPr>
              <a:t>decrypted and exfiltrated data from the account.</a:t>
            </a:r>
            <a:endParaRPr dirty="0">
              <a:latin typeface="Nunito Medium" panose="020B0604020202020204" charset="0"/>
              <a:ea typeface="Calibri"/>
              <a:cs typeface="Calibri"/>
              <a:sym typeface="Calibri"/>
            </a:endParaRPr>
          </a:p>
          <a:p>
            <a:pPr marL="0" lvl="0" indent="0" algn="l" rtl="0">
              <a:spcBef>
                <a:spcPts val="0"/>
              </a:spcBef>
              <a:spcAft>
                <a:spcPts val="0"/>
              </a:spcAft>
              <a:buNone/>
            </a:pPr>
            <a:r>
              <a:rPr lang="en-US" dirty="0">
                <a:latin typeface="Nunito Medium" panose="020B0604020202020204" charset="0"/>
                <a:ea typeface="Calibri"/>
                <a:cs typeface="Calibri"/>
                <a:sym typeface="Calibri"/>
              </a:rPr>
              <a:t>My control recommendation:</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Cloud Security</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Identity Management</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Authentication and Access Control </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Implement a cloud-based WAF </a:t>
            </a:r>
            <a:endParaRPr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dirty="0">
                <a:latin typeface="Nunito Medium" panose="020B0604020202020204" charset="0"/>
                <a:ea typeface="Calibri"/>
                <a:cs typeface="Calibri"/>
                <a:sym typeface="Calibri"/>
              </a:rPr>
              <a:t>Risk Assessment</a:t>
            </a:r>
            <a:endParaRPr dirty="0">
              <a:latin typeface="Nunito Medium" panose="020B0604020202020204" charset="0"/>
              <a:ea typeface="Calibri"/>
              <a:cs typeface="Calibri"/>
              <a:sym typeface="Calibri"/>
            </a:endParaRPr>
          </a:p>
          <a:p>
            <a:pPr marL="0" lvl="0" indent="0" algn="l" rtl="0">
              <a:spcBef>
                <a:spcPts val="0"/>
              </a:spcBef>
              <a:spcAft>
                <a:spcPts val="0"/>
              </a:spcAft>
              <a:buNone/>
            </a:pPr>
            <a:endParaRPr dirty="0">
              <a:latin typeface="Nunito Medium" panose="020B0604020202020204" charset="0"/>
              <a:ea typeface="Calibri"/>
              <a:cs typeface="Calibri"/>
              <a:sym typeface="Calibri"/>
            </a:endParaRPr>
          </a:p>
          <a:p>
            <a:pPr marL="0" lvl="0" indent="0" algn="l" rtl="0">
              <a:spcBef>
                <a:spcPts val="0"/>
              </a:spcBef>
              <a:spcAft>
                <a:spcPts val="0"/>
              </a:spcAft>
              <a:buNone/>
            </a:pPr>
            <a:endParaRPr dirty="0">
              <a:latin typeface="Nunito Medium" panose="020B0604020202020204" charset="0"/>
              <a:ea typeface="Calibri"/>
              <a:cs typeface="Calibri"/>
              <a:sym typeface="Calibri"/>
            </a:endParaRPr>
          </a:p>
          <a:p>
            <a:pPr marL="0" lvl="0" indent="0" algn="l" rtl="0">
              <a:spcBef>
                <a:spcPts val="0"/>
              </a:spcBef>
              <a:spcAft>
                <a:spcPts val="0"/>
              </a:spcAft>
              <a:buNone/>
            </a:pPr>
            <a:endParaRPr dirty="0">
              <a:latin typeface="Nunito Medium" panose="020B0604020202020204"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98"/>
                                        </p:tgtEl>
                                        <p:attrNameLst>
                                          <p:attrName>style.visibility</p:attrName>
                                        </p:attrNameLst>
                                      </p:cBhvr>
                                      <p:to>
                                        <p:strVal val="visible"/>
                                      </p:to>
                                    </p:set>
                                    <p:anim calcmode="lin" valueType="num">
                                      <p:cBhvr additive="base">
                                        <p:cTn id="7" dur="1000"/>
                                        <p:tgtEl>
                                          <p:spTgt spid="198"/>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198"/>
                                        </p:tgtEl>
                                        <p:attrNameLst>
                                          <p:attrName>style.visibility</p:attrName>
                                        </p:attrNameLst>
                                      </p:cBhvr>
                                      <p:to>
                                        <p:strVal val="visible"/>
                                      </p:to>
                                    </p:set>
                                    <p:anim calcmode="lin" valueType="num">
                                      <p:cBhvr additive="base">
                                        <p:cTn id="10" dur="500"/>
                                        <p:tgtEl>
                                          <p:spTgt spid="1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1"/>
          <p:cNvSpPr txBox="1">
            <a:spLocks noGrp="1"/>
          </p:cNvSpPr>
          <p:nvPr>
            <p:ph type="title"/>
          </p:nvPr>
        </p:nvSpPr>
        <p:spPr>
          <a:xfrm>
            <a:off x="587564" y="798868"/>
            <a:ext cx="7505700" cy="9546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00000"/>
              <a:buNone/>
            </a:pPr>
            <a:r>
              <a:rPr lang="en-US"/>
              <a:t>Baylor Scott &amp; White Medical Center Frisco</a:t>
            </a:r>
            <a:endParaRPr/>
          </a:p>
        </p:txBody>
      </p:sp>
      <p:pic>
        <p:nvPicPr>
          <p:cNvPr id="206" name="Google Shape;206;p11"/>
          <p:cNvPicPr preferRelativeResize="0"/>
          <p:nvPr/>
        </p:nvPicPr>
        <p:blipFill rotWithShape="1">
          <a:blip r:embed="rId3">
            <a:alphaModFix/>
          </a:blip>
          <a:srcRect/>
          <a:stretch/>
        </p:blipFill>
        <p:spPr>
          <a:xfrm>
            <a:off x="6567481" y="328699"/>
            <a:ext cx="2285568" cy="400200"/>
          </a:xfrm>
          <a:prstGeom prst="rect">
            <a:avLst/>
          </a:prstGeom>
          <a:noFill/>
          <a:ln>
            <a:noFill/>
          </a:ln>
        </p:spPr>
      </p:pic>
      <p:sp>
        <p:nvSpPr>
          <p:cNvPr id="207" name="Google Shape;207;p11"/>
          <p:cNvSpPr txBox="1"/>
          <p:nvPr/>
        </p:nvSpPr>
        <p:spPr>
          <a:xfrm>
            <a:off x="624475" y="1461500"/>
            <a:ext cx="37014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Baylor Scott &amp; White Medical Center in Frisco</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Short-term acute care facility receives 5,000 patients annually</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Revenue of $10.1 billion in 2019</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Has 49,000 employees for the entire organization</a:t>
            </a:r>
            <a:endParaRPr sz="1300" dirty="0">
              <a:latin typeface="Nunito Medium" panose="020B0604020202020204" charset="0"/>
              <a:ea typeface="Calibri"/>
              <a:cs typeface="Calibri"/>
              <a:sym typeface="Calibri"/>
            </a:endParaRPr>
          </a:p>
        </p:txBody>
      </p:sp>
      <p:sp>
        <p:nvSpPr>
          <p:cNvPr id="208" name="Google Shape;208;p11"/>
          <p:cNvSpPr txBox="1"/>
          <p:nvPr/>
        </p:nvSpPr>
        <p:spPr>
          <a:xfrm>
            <a:off x="4896725" y="2939000"/>
            <a:ext cx="37014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Cybersecurity Expert. </a:t>
            </a:r>
            <a:r>
              <a:rPr lang="en-US" sz="1300" dirty="0" err="1">
                <a:latin typeface="Nunito Medium" panose="020B0604020202020204" charset="0"/>
                <a:ea typeface="Calibri"/>
                <a:cs typeface="Calibri"/>
                <a:sym typeface="Calibri"/>
              </a:rPr>
              <a:t>Racquel</a:t>
            </a:r>
            <a:r>
              <a:rPr lang="en-US" sz="1300" dirty="0">
                <a:latin typeface="Nunito Medium" panose="020B0604020202020204" charset="0"/>
                <a:ea typeface="Calibri"/>
                <a:cs typeface="Calibri"/>
                <a:sym typeface="Calibri"/>
              </a:rPr>
              <a:t> Rodriguez:</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Concurs that least privilege principles needed to be enforced for this case</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Have third-parties security policies checked to align with Baylor Scott &amp; White’s policies</a:t>
            </a:r>
            <a:endParaRPr sz="1300" dirty="0">
              <a:latin typeface="Nunito Medium" panose="020B0604020202020204" charset="0"/>
              <a:ea typeface="Calibri"/>
              <a:cs typeface="Calibri"/>
              <a:sym typeface="Calibri"/>
            </a:endParaRPr>
          </a:p>
        </p:txBody>
      </p:sp>
      <p:sp>
        <p:nvSpPr>
          <p:cNvPr id="209" name="Google Shape;209;p11"/>
          <p:cNvSpPr txBox="1"/>
          <p:nvPr/>
        </p:nvSpPr>
        <p:spPr>
          <a:xfrm>
            <a:off x="624475" y="2973029"/>
            <a:ext cx="3701400" cy="178507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The Data Breach on September 22, 2018:</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Occurred through third-party credit card processing system, </a:t>
            </a:r>
            <a:r>
              <a:rPr lang="en-US" sz="1300" dirty="0" err="1">
                <a:latin typeface="Nunito Medium" panose="020B0604020202020204" charset="0"/>
                <a:ea typeface="Calibri"/>
                <a:cs typeface="Calibri"/>
                <a:sym typeface="Calibri"/>
              </a:rPr>
              <a:t>AccuDoc</a:t>
            </a:r>
            <a:r>
              <a:rPr lang="en-US" sz="1300" dirty="0">
                <a:latin typeface="Nunito Medium" panose="020B0604020202020204" charset="0"/>
                <a:ea typeface="Calibri"/>
                <a:cs typeface="Calibri"/>
                <a:sym typeface="Calibri"/>
              </a:rPr>
              <a:t> Solutions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47,000 patients’ PII was exposed for 7 days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Happened through a compromised network server from software issues with a third-party of </a:t>
            </a:r>
            <a:r>
              <a:rPr lang="en-US" sz="1300" dirty="0" err="1">
                <a:latin typeface="Nunito Medium" panose="020B0604020202020204" charset="0"/>
                <a:ea typeface="Calibri"/>
                <a:cs typeface="Calibri"/>
                <a:sym typeface="Calibri"/>
              </a:rPr>
              <a:t>AccuDoc</a:t>
            </a:r>
            <a:r>
              <a:rPr lang="en-US" sz="1300" dirty="0">
                <a:latin typeface="Nunito Medium" panose="020B0604020202020204" charset="0"/>
                <a:ea typeface="Calibri"/>
                <a:cs typeface="Calibri"/>
                <a:sym typeface="Calibri"/>
              </a:rPr>
              <a:t>.</a:t>
            </a:r>
            <a:endParaRPr sz="1300" dirty="0">
              <a:latin typeface="Nunito Medium" panose="020B0604020202020204" charset="0"/>
              <a:ea typeface="Calibri"/>
              <a:cs typeface="Calibri"/>
              <a:sym typeface="Calibri"/>
            </a:endParaRPr>
          </a:p>
        </p:txBody>
      </p:sp>
      <p:sp>
        <p:nvSpPr>
          <p:cNvPr id="210" name="Google Shape;210;p11"/>
          <p:cNvSpPr txBox="1"/>
          <p:nvPr/>
        </p:nvSpPr>
        <p:spPr>
          <a:xfrm>
            <a:off x="4896725" y="1461500"/>
            <a:ext cx="3701400" cy="15850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Control Recommendations: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Routine Risk Threat Assessments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Separation of demographic and financial information</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Secure inventory of sensitive information, and limit privileges of third-parties</a:t>
            </a:r>
            <a:endParaRPr sz="1300" dirty="0">
              <a:latin typeface="Nunito Medium" panose="020B0604020202020204"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 calcmode="lin" valueType="num">
                                      <p:cBhvr additive="base">
                                        <p:cTn id="7" dur="500"/>
                                        <p:tgtEl>
                                          <p:spTgt spid="2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4"/>
          <p:cNvSpPr txBox="1">
            <a:spLocks noGrp="1"/>
          </p:cNvSpPr>
          <p:nvPr>
            <p:ph type="title"/>
          </p:nvPr>
        </p:nvSpPr>
        <p:spPr>
          <a:xfrm>
            <a:off x="494426" y="329634"/>
            <a:ext cx="7505700" cy="954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US" dirty="0"/>
              <a:t>Equifax</a:t>
            </a:r>
            <a:endParaRPr dirty="0"/>
          </a:p>
        </p:txBody>
      </p:sp>
      <p:pic>
        <p:nvPicPr>
          <p:cNvPr id="216" name="Google Shape;216;p14"/>
          <p:cNvPicPr preferRelativeResize="0"/>
          <p:nvPr/>
        </p:nvPicPr>
        <p:blipFill rotWithShape="1">
          <a:blip r:embed="rId3">
            <a:alphaModFix/>
          </a:blip>
          <a:srcRect/>
          <a:stretch/>
        </p:blipFill>
        <p:spPr>
          <a:xfrm>
            <a:off x="7398326" y="309257"/>
            <a:ext cx="1446415" cy="268518"/>
          </a:xfrm>
          <a:prstGeom prst="rect">
            <a:avLst/>
          </a:prstGeom>
          <a:noFill/>
          <a:ln>
            <a:noFill/>
          </a:ln>
        </p:spPr>
      </p:pic>
      <p:sp>
        <p:nvSpPr>
          <p:cNvPr id="217" name="Google Shape;217;p14"/>
          <p:cNvSpPr txBox="1"/>
          <p:nvPr/>
        </p:nvSpPr>
        <p:spPr>
          <a:xfrm>
            <a:off x="545876" y="1094250"/>
            <a:ext cx="37014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Equifax:</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One of the three largest credit bureaus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Has an annual revenue of 3.396 billion as of 2018 after the breach</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Houses 800 million people’s credit history, and 88 million businesses’ too</a:t>
            </a:r>
            <a:endParaRPr sz="1300" dirty="0">
              <a:latin typeface="Nunito Medium" panose="020B0604020202020204" charset="0"/>
              <a:ea typeface="Calibri"/>
              <a:cs typeface="Calibri"/>
              <a:sym typeface="Calibri"/>
            </a:endParaRPr>
          </a:p>
        </p:txBody>
      </p:sp>
      <p:sp>
        <p:nvSpPr>
          <p:cNvPr id="218" name="Google Shape;218;p14"/>
          <p:cNvSpPr txBox="1"/>
          <p:nvPr/>
        </p:nvSpPr>
        <p:spPr>
          <a:xfrm>
            <a:off x="4896724" y="1094250"/>
            <a:ext cx="3701400" cy="15850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Control Recommendations: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Checking and updating vital systems, as well as recertifying security controls as soon as possible</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SIEM management</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Segmentation of the network and servers</a:t>
            </a:r>
            <a:endParaRPr sz="1300" dirty="0">
              <a:latin typeface="Nunito Medium" panose="020B0604020202020204" charset="0"/>
              <a:ea typeface="Calibri"/>
              <a:cs typeface="Calibri"/>
              <a:sym typeface="Calibri"/>
            </a:endParaRPr>
          </a:p>
        </p:txBody>
      </p:sp>
      <p:sp>
        <p:nvSpPr>
          <p:cNvPr id="219" name="Google Shape;219;p14"/>
          <p:cNvSpPr txBox="1"/>
          <p:nvPr/>
        </p:nvSpPr>
        <p:spPr>
          <a:xfrm>
            <a:off x="545876" y="2723600"/>
            <a:ext cx="3701400" cy="178507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The Data Breach on March 10, 2017:</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Unpatched Apache Struts application allowed for access within Equifax’s network</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Expired public-key certificate for network sniffer</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Breached 147 million people’s sensitive information</a:t>
            </a:r>
            <a:endParaRPr sz="1300" dirty="0">
              <a:latin typeface="Nunito Medium" panose="020B0604020202020204" charset="0"/>
              <a:ea typeface="Calibri"/>
              <a:cs typeface="Calibri"/>
              <a:sym typeface="Calibri"/>
            </a:endParaRPr>
          </a:p>
        </p:txBody>
      </p:sp>
      <p:sp>
        <p:nvSpPr>
          <p:cNvPr id="220" name="Google Shape;220;p14"/>
          <p:cNvSpPr txBox="1"/>
          <p:nvPr/>
        </p:nvSpPr>
        <p:spPr>
          <a:xfrm>
            <a:off x="4896724" y="2723600"/>
            <a:ext cx="3701400" cy="15850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Cybersecurity Expert, </a:t>
            </a:r>
            <a:r>
              <a:rPr lang="en-US" sz="1300" dirty="0" err="1">
                <a:latin typeface="Nunito Medium" panose="020B0604020202020204" charset="0"/>
                <a:ea typeface="Calibri"/>
                <a:cs typeface="Calibri"/>
                <a:sym typeface="Calibri"/>
              </a:rPr>
              <a:t>Racquel</a:t>
            </a:r>
            <a:r>
              <a:rPr lang="en-US" sz="1300" dirty="0">
                <a:latin typeface="Nunito Medium" panose="020B0604020202020204" charset="0"/>
                <a:ea typeface="Calibri"/>
                <a:cs typeface="Calibri"/>
                <a:sym typeface="Calibri"/>
              </a:rPr>
              <a:t> Rodriguez:</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Applying a CASB system to Equifax</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Reputation management and quick response to breaches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Tuning alarms to alert personnel about any exfiltration and breaches in the network</a:t>
            </a:r>
            <a:endParaRPr sz="1300" dirty="0">
              <a:latin typeface="Nunito Medium" panose="020B0604020202020204"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16"/>
                                        </p:tgtEl>
                                        <p:attrNameLst>
                                          <p:attrName>style.visibility</p:attrName>
                                        </p:attrNameLst>
                                      </p:cBhvr>
                                      <p:to>
                                        <p:strVal val="visible"/>
                                      </p:to>
                                    </p:set>
                                    <p:anim calcmode="lin" valueType="num">
                                      <p:cBhvr additive="base">
                                        <p:cTn id="7" dur="500"/>
                                        <p:tgtEl>
                                          <p:spTgt spid="2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2"/>
          <p:cNvSpPr txBox="1">
            <a:spLocks noGrp="1"/>
          </p:cNvSpPr>
          <p:nvPr>
            <p:ph type="title"/>
          </p:nvPr>
        </p:nvSpPr>
        <p:spPr>
          <a:xfrm>
            <a:off x="695293" y="379624"/>
            <a:ext cx="7505700" cy="609376"/>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US" dirty="0"/>
              <a:t>Yale University</a:t>
            </a:r>
            <a:endParaRPr dirty="0"/>
          </a:p>
        </p:txBody>
      </p:sp>
      <p:pic>
        <p:nvPicPr>
          <p:cNvPr id="226" name="Google Shape;226;p12"/>
          <p:cNvPicPr preferRelativeResize="0"/>
          <p:nvPr/>
        </p:nvPicPr>
        <p:blipFill rotWithShape="1">
          <a:blip r:embed="rId3">
            <a:alphaModFix/>
          </a:blip>
          <a:srcRect/>
          <a:stretch/>
        </p:blipFill>
        <p:spPr>
          <a:xfrm>
            <a:off x="7423176" y="305696"/>
            <a:ext cx="1313498" cy="609375"/>
          </a:xfrm>
          <a:prstGeom prst="rect">
            <a:avLst/>
          </a:prstGeom>
          <a:noFill/>
          <a:ln>
            <a:noFill/>
          </a:ln>
        </p:spPr>
      </p:pic>
      <p:sp>
        <p:nvSpPr>
          <p:cNvPr id="227" name="Google Shape;227;p12"/>
          <p:cNvSpPr txBox="1"/>
          <p:nvPr/>
        </p:nvSpPr>
        <p:spPr>
          <a:xfrm>
            <a:off x="624475" y="1094250"/>
            <a:ext cx="37014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Yale University:</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Ivy league school with 12,000 students attending</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Yearly revenue of $4 billion in 2019</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Has 8,480 faculty and staff members currently</a:t>
            </a:r>
            <a:endParaRPr sz="1300" dirty="0">
              <a:latin typeface="Nunito Medium" panose="020B0604020202020204" charset="0"/>
              <a:ea typeface="Calibri"/>
              <a:cs typeface="Calibri"/>
              <a:sym typeface="Calibri"/>
            </a:endParaRPr>
          </a:p>
        </p:txBody>
      </p:sp>
      <p:sp>
        <p:nvSpPr>
          <p:cNvPr id="228" name="Google Shape;228;p12"/>
          <p:cNvSpPr txBox="1"/>
          <p:nvPr/>
        </p:nvSpPr>
        <p:spPr>
          <a:xfrm>
            <a:off x="4896725" y="1094250"/>
            <a:ext cx="37014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Control Recommendations: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Could have been prevented with tighter controls on data management</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Integrity mechanisms are in place to verify the data is correct before sending letters</a:t>
            </a:r>
            <a:endParaRPr sz="1300" dirty="0">
              <a:latin typeface="Nunito Medium" panose="020B0604020202020204" charset="0"/>
              <a:ea typeface="Calibri"/>
              <a:cs typeface="Calibri"/>
              <a:sym typeface="Calibri"/>
            </a:endParaRPr>
          </a:p>
        </p:txBody>
      </p:sp>
      <p:sp>
        <p:nvSpPr>
          <p:cNvPr id="229" name="Google Shape;229;p12"/>
          <p:cNvSpPr txBox="1"/>
          <p:nvPr/>
        </p:nvSpPr>
        <p:spPr>
          <a:xfrm>
            <a:off x="624475" y="2892241"/>
            <a:ext cx="3701400" cy="118490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The Unintended Disclosure Breach September 2018:</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Collating errors, leading to Yale sending letters to the wrong addresses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Affected 1,102 individuals’ PHI</a:t>
            </a:r>
            <a:endParaRPr sz="1300" dirty="0">
              <a:latin typeface="Nunito Medium" panose="020B0604020202020204" charset="0"/>
              <a:ea typeface="Calibri"/>
              <a:cs typeface="Calibri"/>
              <a:sym typeface="Calibri"/>
            </a:endParaRPr>
          </a:p>
        </p:txBody>
      </p:sp>
      <p:sp>
        <p:nvSpPr>
          <p:cNvPr id="230" name="Google Shape;230;p12"/>
          <p:cNvSpPr txBox="1"/>
          <p:nvPr/>
        </p:nvSpPr>
        <p:spPr>
          <a:xfrm>
            <a:off x="4896725" y="2892241"/>
            <a:ext cx="3701400" cy="15850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Cybersecurity Expert. </a:t>
            </a:r>
            <a:r>
              <a:rPr lang="en-US" sz="1300" dirty="0" err="1">
                <a:latin typeface="Nunito Medium" panose="020B0604020202020204" charset="0"/>
                <a:ea typeface="Calibri"/>
                <a:cs typeface="Calibri"/>
                <a:sym typeface="Calibri"/>
              </a:rPr>
              <a:t>Racquel</a:t>
            </a:r>
            <a:r>
              <a:rPr lang="en-US" sz="1300" dirty="0">
                <a:latin typeface="Nunito Medium" panose="020B0604020202020204" charset="0"/>
                <a:ea typeface="Calibri"/>
                <a:cs typeface="Calibri"/>
                <a:sym typeface="Calibri"/>
              </a:rPr>
              <a:t> Rodriguez:</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Database management is overseen</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Use of automation to avoid incidents of collating errors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Greater control of integrity for the University to check on sensitive information before being sent</a:t>
            </a:r>
            <a:endParaRPr sz="1300" dirty="0">
              <a:latin typeface="Nunito Medium" panose="020B0604020202020204"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26"/>
                                        </p:tgtEl>
                                        <p:attrNameLst>
                                          <p:attrName>style.visibility</p:attrName>
                                        </p:attrNameLst>
                                      </p:cBhvr>
                                      <p:to>
                                        <p:strVal val="visible"/>
                                      </p:to>
                                    </p:set>
                                    <p:anim calcmode="lin" valueType="num">
                                      <p:cBhvr additive="base">
                                        <p:cTn id="7" dur="500"/>
                                        <p:tgtEl>
                                          <p:spTgt spid="2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3"/>
          <p:cNvSpPr txBox="1">
            <a:spLocks noGrp="1"/>
          </p:cNvSpPr>
          <p:nvPr>
            <p:ph type="title"/>
          </p:nvPr>
        </p:nvSpPr>
        <p:spPr>
          <a:xfrm>
            <a:off x="573025" y="413614"/>
            <a:ext cx="7505700" cy="954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US" dirty="0"/>
              <a:t>South Georgia Medical Center</a:t>
            </a:r>
            <a:endParaRPr dirty="0"/>
          </a:p>
        </p:txBody>
      </p:sp>
      <p:pic>
        <p:nvPicPr>
          <p:cNvPr id="236" name="Google Shape;236;p13"/>
          <p:cNvPicPr preferRelativeResize="0"/>
          <p:nvPr/>
        </p:nvPicPr>
        <p:blipFill rotWithShape="1">
          <a:blip r:embed="rId3">
            <a:alphaModFix/>
          </a:blip>
          <a:srcRect/>
          <a:stretch/>
        </p:blipFill>
        <p:spPr>
          <a:xfrm>
            <a:off x="7141580" y="309257"/>
            <a:ext cx="1665839" cy="483007"/>
          </a:xfrm>
          <a:prstGeom prst="rect">
            <a:avLst/>
          </a:prstGeom>
          <a:noFill/>
          <a:ln>
            <a:noFill/>
          </a:ln>
        </p:spPr>
      </p:pic>
      <p:sp>
        <p:nvSpPr>
          <p:cNvPr id="237" name="Google Shape;237;p13"/>
          <p:cNvSpPr txBox="1"/>
          <p:nvPr/>
        </p:nvSpPr>
        <p:spPr>
          <a:xfrm>
            <a:off x="573025" y="1020974"/>
            <a:ext cx="3701400" cy="15850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South Georgia Medical Center:</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Not-for-profit medical center receiving 16,000 patients a year</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Has annual revenue of $1.3 billion in 2021</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2,900 employees in the Valdosta location</a:t>
            </a:r>
            <a:endParaRPr sz="1300" dirty="0">
              <a:latin typeface="Nunito Medium" panose="020B0604020202020204" charset="0"/>
              <a:ea typeface="Calibri"/>
              <a:cs typeface="Calibri"/>
              <a:sym typeface="Calibri"/>
            </a:endParaRPr>
          </a:p>
        </p:txBody>
      </p:sp>
      <p:sp>
        <p:nvSpPr>
          <p:cNvPr id="238" name="Google Shape;238;p13"/>
          <p:cNvSpPr txBox="1"/>
          <p:nvPr/>
        </p:nvSpPr>
        <p:spPr>
          <a:xfrm>
            <a:off x="4869575" y="1020974"/>
            <a:ext cx="37014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Control Recommendations: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Having exit procedures for employees who quit</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Management of least privilege principles in the workplace</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Zero-trust policies</a:t>
            </a:r>
            <a:endParaRPr sz="1300" dirty="0">
              <a:latin typeface="Nunito Medium" panose="020B0604020202020204" charset="0"/>
              <a:ea typeface="Calibri"/>
              <a:cs typeface="Calibri"/>
              <a:sym typeface="Calibri"/>
            </a:endParaRPr>
          </a:p>
        </p:txBody>
      </p:sp>
      <p:sp>
        <p:nvSpPr>
          <p:cNvPr id="239" name="Google Shape;239;p13"/>
          <p:cNvSpPr txBox="1"/>
          <p:nvPr/>
        </p:nvSpPr>
        <p:spPr>
          <a:xfrm>
            <a:off x="573025" y="2645026"/>
            <a:ext cx="3701400" cy="178507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The Insider Data Breach on November 12, 2021:</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Employee voluntarily left employment</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Stole 41,692 patients’ PHI on USB drives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USB drive has been recovered by authorities, though none of the information has surfaced in any forums</a:t>
            </a:r>
            <a:endParaRPr sz="1300" dirty="0">
              <a:latin typeface="Nunito Medium" panose="020B0604020202020204" charset="0"/>
              <a:ea typeface="Calibri"/>
              <a:cs typeface="Calibri"/>
              <a:sym typeface="Calibri"/>
            </a:endParaRPr>
          </a:p>
        </p:txBody>
      </p:sp>
      <p:sp>
        <p:nvSpPr>
          <p:cNvPr id="240" name="Google Shape;240;p13"/>
          <p:cNvSpPr txBox="1"/>
          <p:nvPr/>
        </p:nvSpPr>
        <p:spPr>
          <a:xfrm>
            <a:off x="4869575" y="2713715"/>
            <a:ext cx="3701400" cy="15850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dirty="0">
                <a:latin typeface="Nunito Medium" panose="020B0604020202020204" charset="0"/>
                <a:ea typeface="Calibri"/>
                <a:cs typeface="Calibri"/>
                <a:sym typeface="Calibri"/>
              </a:rPr>
              <a:t>Cybersecurity Expert, </a:t>
            </a:r>
            <a:r>
              <a:rPr lang="en-US" sz="1300" dirty="0" err="1">
                <a:latin typeface="Nunito Medium" panose="020B0604020202020204" charset="0"/>
                <a:ea typeface="Calibri"/>
                <a:cs typeface="Calibri"/>
                <a:sym typeface="Calibri"/>
              </a:rPr>
              <a:t>Racquel</a:t>
            </a:r>
            <a:r>
              <a:rPr lang="en-US" sz="1300" dirty="0">
                <a:latin typeface="Nunito Medium" panose="020B0604020202020204" charset="0"/>
                <a:ea typeface="Calibri"/>
                <a:cs typeface="Calibri"/>
                <a:sym typeface="Calibri"/>
              </a:rPr>
              <a:t> Rodriguez:</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Implementation of policies of display-only access or blocking large exports, such as usage of USB drives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Specification of zero-trust policies in being applied to system-wide positions</a:t>
            </a:r>
            <a:endParaRPr sz="1300" dirty="0">
              <a:latin typeface="Nunito Medium" panose="020B0604020202020204" charset="0"/>
              <a:ea typeface="Calibri"/>
              <a:cs typeface="Calibri"/>
              <a:sym typeface="Calibri"/>
            </a:endParaRPr>
          </a:p>
          <a:p>
            <a:pPr marL="457200" lvl="0" indent="-317500" algn="l" rtl="0">
              <a:spcBef>
                <a:spcPts val="0"/>
              </a:spcBef>
              <a:spcAft>
                <a:spcPts val="0"/>
              </a:spcAft>
              <a:buSzPts val="1400"/>
              <a:buFont typeface="Calibri"/>
              <a:buChar char="➢"/>
            </a:pPr>
            <a:r>
              <a:rPr lang="en-US" sz="1300" dirty="0">
                <a:latin typeface="Nunito Medium" panose="020B0604020202020204" charset="0"/>
                <a:ea typeface="Calibri"/>
                <a:cs typeface="Calibri"/>
                <a:sym typeface="Calibri"/>
              </a:rPr>
              <a:t>Enforcement of least privilege</a:t>
            </a:r>
            <a:endParaRPr sz="1300" dirty="0">
              <a:latin typeface="Nunito Medium" panose="020B0604020202020204"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36"/>
                                        </p:tgtEl>
                                        <p:attrNameLst>
                                          <p:attrName>style.visibility</p:attrName>
                                        </p:attrNameLst>
                                      </p:cBhvr>
                                      <p:to>
                                        <p:strVal val="visible"/>
                                      </p:to>
                                    </p:set>
                                    <p:anim calcmode="lin" valueType="num">
                                      <p:cBhvr additive="base">
                                        <p:cTn id="7" dur="500"/>
                                        <p:tgtEl>
                                          <p:spTgt spid="2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5"/>
          <p:cNvSpPr txBox="1">
            <a:spLocks noGrp="1"/>
          </p:cNvSpPr>
          <p:nvPr>
            <p:ph type="title"/>
          </p:nvPr>
        </p:nvSpPr>
        <p:spPr>
          <a:xfrm>
            <a:off x="819150" y="546268"/>
            <a:ext cx="7505700" cy="954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US" dirty="0"/>
              <a:t>Conclusion</a:t>
            </a:r>
            <a:endParaRPr dirty="0"/>
          </a:p>
        </p:txBody>
      </p:sp>
      <p:sp>
        <p:nvSpPr>
          <p:cNvPr id="246" name="Google Shape;246;p15"/>
          <p:cNvSpPr txBox="1">
            <a:spLocks noGrp="1"/>
          </p:cNvSpPr>
          <p:nvPr>
            <p:ph type="body" idx="1"/>
          </p:nvPr>
        </p:nvSpPr>
        <p:spPr>
          <a:xfrm>
            <a:off x="819150" y="1347750"/>
            <a:ext cx="7505700" cy="2448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300"/>
              <a:buNone/>
            </a:pPr>
            <a:r>
              <a:rPr lang="en-US" sz="1400" dirty="0">
                <a:latin typeface="Nunito Medium" panose="020B0604020202020204" charset="0"/>
              </a:rPr>
              <a:t>The 12 breach cases we have researched have exemplified multiple important factors in creating a secure work environment and network. These companies should have followed the cybersecurity frameworks that have been laid out for them to minimize breach risks, followed the correct procedures of access controls to vital systems, classified their data to be akin to their company makeup, and had a proactive approach to their security rather than a reactive. Our findings have shown that these data breaches could have both been prevented and minimized with our recommendations. </a:t>
            </a:r>
            <a:endParaRPr sz="1400" dirty="0">
              <a:latin typeface="Nunito Medium" panose="020B0604020202020204" charset="0"/>
            </a:endParaRPr>
          </a:p>
          <a:p>
            <a:pPr marL="0" lvl="0" indent="0" algn="l" rtl="0">
              <a:lnSpc>
                <a:spcPct val="115000"/>
              </a:lnSpc>
              <a:spcBef>
                <a:spcPts val="1200"/>
              </a:spcBef>
              <a:spcAft>
                <a:spcPts val="1200"/>
              </a:spcAft>
              <a:buSzPts val="1300"/>
              <a:buNone/>
            </a:pPr>
            <a:endParaRPr sz="1400" dirty="0">
              <a:latin typeface="Nunito Medium" panose="020B060402020202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g1402f108641_0_5"/>
          <p:cNvPicPr preferRelativeResize="0"/>
          <p:nvPr/>
        </p:nvPicPr>
        <p:blipFill rotWithShape="1">
          <a:blip r:embed="rId3">
            <a:alphaModFix/>
          </a:blip>
          <a:srcRect l="2717" t="2869" r="-1531" b="-812"/>
          <a:stretch/>
        </p:blipFill>
        <p:spPr>
          <a:xfrm>
            <a:off x="1147225" y="344175"/>
            <a:ext cx="7377975" cy="4628874"/>
          </a:xfrm>
          <a:prstGeom prst="rect">
            <a:avLst/>
          </a:prstGeom>
          <a:noFill/>
          <a:ln>
            <a:noFill/>
          </a:ln>
        </p:spPr>
      </p:pic>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4196</Words>
  <Application>Microsoft Office PowerPoint</Application>
  <PresentationFormat>On-screen Show (16:9)</PresentationFormat>
  <Paragraphs>291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Nunito Medium</vt:lpstr>
      <vt:lpstr>Nunito</vt:lpstr>
      <vt:lpstr>Shift</vt:lpstr>
      <vt:lpstr>Cyber Breach Research  &amp;  Control Recommendations</vt:lpstr>
      <vt:lpstr>The Colonial Pipeline Ransomware Attack</vt:lpstr>
      <vt:lpstr>Okta Data Breach by Lapsus$ Group </vt:lpstr>
      <vt:lpstr>Texas Department of Insurance Data Leak</vt:lpstr>
      <vt:lpstr>Elliott Greenleaf Law Firm Data Theft </vt:lpstr>
      <vt:lpstr>Target’s $18.5 Million Multi-State Settlement over Data Breach  </vt:lpstr>
      <vt:lpstr>T-Mobile Fourth Breach in Three Years  </vt:lpstr>
      <vt:lpstr>700 million LinkedIn Records for Sale   </vt:lpstr>
      <vt:lpstr>Capital One to Pay $190 Million Class-Action Lawsuit and $80 Million Regulatory Fine After Data Breach   </vt:lpstr>
      <vt:lpstr>Baylor Scott &amp; White Medical Center Frisco</vt:lpstr>
      <vt:lpstr>Equifax</vt:lpstr>
      <vt:lpstr>Yale University</vt:lpstr>
      <vt:lpstr>South Georgia Medical Center</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Breach Research  &amp;  Control Recommendations</dc:title>
  <cp:lastModifiedBy>Christopher Phan</cp:lastModifiedBy>
  <cp:revision>5</cp:revision>
  <dcterms:modified xsi:type="dcterms:W3CDTF">2022-08-03T00:00:05Z</dcterms:modified>
</cp:coreProperties>
</file>